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Namaskar. We are Team SUBARNAREKHA. Our project is Accessibility as a Service - shared infrastructure that makes any government or education website usable by every citizen, in their own language, including the blind, low-vision and dyslexic. One line for institutions to integrate; one extension for citizens to use it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gap: disability + language + no shared solution. The punchline - existing overlays are English-centric band-aids. Public digital services exclude exactly the people who need them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a human face on the stats. Three personas the judges can picture. End on scale: millions, not edge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big idea: shared infrastructure, not another point tool. Two delivery modes (integrate vs extension) and the differentiator - Indian-language AI that runs on-device.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pre-empts the overlay question. Overlays are site-owner-only. We add a citizen-controlled path so accessibility reaches sites that will never integrate.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The gateway is the product: secure, multi-tenant, metered. The same engines run server-side OR on-device in the extension. Admin dashboard gives departments oversight and WCAG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everyday actions, each a small pipeline. Stress that the heavy AI runs on the user's device - so it works with no backend and respects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real screenshot, not a mockup. Wikipedia is a deliberately hard target (strict CSP). If it works here, it works on government portals. Offer to do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Maps directly to the problem statement's six modules. We didn't pick one piece - we built the whole accessibility platform, with the exam module and admin oversight as differentiators.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technical judges. The headline engineering win is on-device inference: privacy, offline, resilience and cost - all at once. Mention the Shadow DOM isolation so the widget never breaks host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expected hard question - answer it head-on. Key lines: overlays are site-owner, English, cloud, and over-claim compliance. We are user-controlled, Indian-language, on-device, and honest about being an assistive layer + toolkit.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 the government's language: compliance (RPwD/GIGW/WCAG), sovereignty (DPDP, on-device), cost (shared infra, no rebuild) and reach (works on legacy sites now). These are procurement decision factors.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outcomes to flagship missions judges know. This signals the project isn't a toy - it advances policy goals the state already cares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momentum and a credible path. We already have a working MVP; the near-term ask is a real pilot; the long term is shared state infrastructure with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concrete and small enough to say yes to: one pilot. Confidence line - hand us one site and we will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warm and confident. Restate the one-liner: accessibility for every citizen, in their own language, on any site. Invite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137160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200" b="1" i="0">
                <a:solidFill>
                  <a:srgbClr val="FFF3DA"/>
                </a:solidFill>
                <a:latin typeface="Segoe UI"/>
              </a:rPr>
              <a:t>Accessibility as a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3087" y="2331720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6B93F"/>
                </a:solidFill>
                <a:latin typeface="Segoe UI"/>
              </a:rPr>
              <a:t>(AaaS)</a:t>
            </a:r>
          </a:p>
        </p:txBody>
      </p:sp>
      <p:pic>
        <p:nvPicPr>
          <p:cNvPr id="9" name="Picture 8" descr="odia_s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7" y="2926080"/>
            <a:ext cx="5669280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33087" y="361188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 i="0">
                <a:solidFill>
                  <a:srgbClr val="FFF7E9"/>
                </a:solidFill>
                <a:latin typeface="Segoe UI"/>
              </a:rPr>
              <a:t>Shared accessibility infrastructure for public institutions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4297680"/>
            <a:ext cx="5486400" cy="36576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4480560"/>
            <a:ext cx="7680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Team SUBARNAREKHA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E6B93F"/>
                </a:solidFill>
                <a:latin typeface="Segoe UI"/>
              </a:rPr>
              <a:t>Smart Odisha Hackathon '25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FFF7E9"/>
                </a:solidFill>
                <a:latin typeface="Segoe UI"/>
              </a:rPr>
              <a:t>Theme: Accessibility · E-commerce &amp; Cyber Security   |   Software · Odiapreneur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The Problem</a:t>
            </a:r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900" b="1">
                <a:solidFill>
                  <a:srgbClr val="3A2410"/>
                </a:solidFill>
                <a:latin typeface="Segoe UI"/>
              </a:rPr>
              <a:t>26.8M+ Indians live with a disability  </a:t>
            </a:r>
            <a:r>
              <a:rPr sz="1900">
                <a:solidFill>
                  <a:srgbClr val="3A2410"/>
                </a:solidFill>
                <a:latin typeface="Segoe UI"/>
              </a:rPr>
              <a:t>(Census 2011) - yet most government and education sites are unusable with a screen reader.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900" b="1">
                <a:solidFill>
                  <a:srgbClr val="3A2410"/>
                </a:solidFill>
                <a:latin typeface="Segoe UI"/>
              </a:rPr>
              <a:t>The web is English-first.  </a:t>
            </a:r>
            <a:r>
              <a:rPr sz="1900">
                <a:solidFill>
                  <a:srgbClr val="3A2410"/>
                </a:solidFill>
                <a:latin typeface="Segoe UI"/>
              </a:rPr>
              <a:t>Only about 1 in 10 Indians reads English comfortably - Odia-only citizens are shut out of digital services.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900" b="1">
                <a:solidFill>
                  <a:srgbClr val="3A2410"/>
                </a:solidFill>
                <a:latin typeface="Segoe UI"/>
              </a:rPr>
              <a:t>Today's "fix" is an overlay sold to site owners.  </a:t>
            </a:r>
            <a:r>
              <a:rPr sz="1900">
                <a:solidFill>
                  <a:srgbClr val="3A2410"/>
                </a:solidFill>
                <a:latin typeface="Segoe UI"/>
              </a:rPr>
              <a:t>It ignores Indian languages, only works where installed, and is widely criticised for not actually fixing access.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900" b="1">
                <a:solidFill>
                  <a:srgbClr val="3A2410"/>
                </a:solidFill>
                <a:latin typeface="Segoe UI"/>
              </a:rPr>
              <a:t>Every department builds accessibility alone.  </a:t>
            </a:r>
            <a:r>
              <a:rPr sz="1900">
                <a:solidFill>
                  <a:srgbClr val="3A2410"/>
                </a:solidFill>
                <a:latin typeface="Segoe UI"/>
              </a:rPr>
              <a:t>Slow, costly, inconsistent - and rarely WCAG / GIGW compliant.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989320"/>
            <a:ext cx="10972800" cy="18288"/>
          </a:xfrm>
          <a:prstGeom prst="rect">
            <a:avLst/>
          </a:prstGeom>
          <a:solidFill>
            <a:srgbClr val="C99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1">
                <a:solidFill>
                  <a:srgbClr val="8D1B2F"/>
                </a:solidFill>
                <a:latin typeface="Segoe UI"/>
              </a:rPr>
              <a:t>A citizen who cannot read English or cannot see the screen simply cannot use the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Who gets left behind</a:t>
            </a:r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46304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DECD4"/>
          </a:solidFill>
          <a:ln w="25400">
            <a:solidFill>
              <a:srgbClr val="8D1B2F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611880" cy="640080"/>
          </a:xfrm>
          <a:prstGeom prst="roundRect">
            <a:avLst>
              <a:gd name="adj" fmla="val 18000"/>
            </a:avLst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3611880" cy="32004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3154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3DA"/>
                </a:solidFill>
                <a:latin typeface="Segoe UI"/>
              </a:rPr>
              <a:t>The blind citizen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77440"/>
            <a:ext cx="3099816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 i="0">
                <a:solidFill>
                  <a:srgbClr val="3A2410"/>
                </a:solidFill>
                <a:latin typeface="Segoe UI"/>
              </a:rPr>
              <a:t>A government notice or scholarship form they literally cannot read - no audio, no screen-reader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46304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E4F4E9"/>
          </a:solidFill>
          <a:ln w="25400">
            <a:solidFill>
              <a:srgbClr val="1A7A3C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463040"/>
            <a:ext cx="3611880" cy="640080"/>
          </a:xfrm>
          <a:prstGeom prst="roundRect">
            <a:avLst>
              <a:gd name="adj" fmla="val 18000"/>
            </a:avLst>
          </a:prstGeom>
          <a:solidFill>
            <a:srgbClr val="1A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783080"/>
            <a:ext cx="3611880" cy="320040"/>
          </a:xfrm>
          <a:prstGeom prst="rect">
            <a:avLst/>
          </a:prstGeom>
          <a:solidFill>
            <a:srgbClr val="1A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463040"/>
            <a:ext cx="3154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3DA"/>
                </a:solidFill>
                <a:latin typeface="Segoe UI"/>
              </a:rPr>
              <a:t>The Odia speaker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377440"/>
            <a:ext cx="3099816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 i="0">
                <a:solidFill>
                  <a:srgbClr val="3A2410"/>
                </a:solidFill>
                <a:latin typeface="Segoe UI"/>
              </a:rPr>
              <a:t>A farmer or student fluent in Odia, facing an English-only portal with no translation.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46304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E9ECFB"/>
          </a:solidFill>
          <a:ln w="25400">
            <a:solidFill>
              <a:srgbClr val="1B2A66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1463040"/>
            <a:ext cx="3611880" cy="640080"/>
          </a:xfrm>
          <a:prstGeom prst="roundRect">
            <a:avLst>
              <a:gd name="adj" fmla="val 18000"/>
            </a:avLst>
          </a:prstGeom>
          <a:solidFill>
            <a:srgbClr val="1B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783080"/>
            <a:ext cx="3611880" cy="320040"/>
          </a:xfrm>
          <a:prstGeom prst="rect">
            <a:avLst/>
          </a:prstGeom>
          <a:solidFill>
            <a:srgbClr val="1B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1463040"/>
            <a:ext cx="3154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3DA"/>
                </a:solidFill>
                <a:latin typeface="Segoe UI"/>
              </a:rPr>
              <a:t>The exam candidate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1" y="2377440"/>
            <a:ext cx="3099816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 i="0">
                <a:solidFill>
                  <a:srgbClr val="3A2410"/>
                </a:solidFill>
                <a:latin typeface="Segoe UI"/>
              </a:rPr>
              <a:t>A student with dyslexia in an online test - no audio support, no extra time, no friendly fonts.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1">
                <a:solidFill>
                  <a:srgbClr val="8D1B2F"/>
                </a:solidFill>
                <a:latin typeface="Segoe UI"/>
              </a:rPr>
              <a:t>These are not edge cases - they are millions of citizens that public services are meant to serve.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Our Solution: one shared platform</a:t>
            </a:r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325880"/>
            <a:ext cx="10972800" cy="1051560"/>
          </a:xfrm>
          <a:prstGeom prst="roundRect">
            <a:avLst>
              <a:gd name="adj" fmla="val 12000"/>
            </a:avLst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607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3DA"/>
                </a:solidFill>
                <a:latin typeface="Segoe UI"/>
              </a:rPr>
              <a:t>Accessibility as a Service - institutions plug in ONCE; citizens get it EVERYWHERE.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3611880" cy="3200400"/>
          </a:xfrm>
          <a:prstGeom prst="roundRect">
            <a:avLst>
              <a:gd name="adj" fmla="val 7000"/>
            </a:avLst>
          </a:prstGeom>
          <a:solidFill>
            <a:srgbClr val="FDECD4"/>
          </a:solidFill>
          <a:ln w="25400">
            <a:solidFill>
              <a:srgbClr val="EF7D16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926080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EF7D16"/>
                </a:solidFill>
                <a:latin typeface="Segoe UI"/>
              </a:rPr>
              <a:t>API + Widget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20440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7A5A38"/>
                </a:solidFill>
                <a:latin typeface="Segoe UI"/>
              </a:rPr>
              <a:t>INTEGRATE 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977639"/>
            <a:ext cx="309981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 i="0">
                <a:solidFill>
                  <a:srgbClr val="3A2410"/>
                </a:solidFill>
                <a:latin typeface="Segoe UI"/>
              </a:rPr>
              <a:t>One &lt;script&gt; line or a REST API turns any site accessible.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697480"/>
            <a:ext cx="3611880" cy="3200400"/>
          </a:xfrm>
          <a:prstGeom prst="roundRect">
            <a:avLst>
              <a:gd name="adj" fmla="val 7000"/>
            </a:avLst>
          </a:prstGeom>
          <a:solidFill>
            <a:srgbClr val="E4F4E9"/>
          </a:solidFill>
          <a:ln w="25400">
            <a:solidFill>
              <a:srgbClr val="1A7A3C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2926080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1A7A3C"/>
                </a:solidFill>
                <a:latin typeface="Segoe UI"/>
              </a:rPr>
              <a:t>Browser Extension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3520440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7A5A38"/>
                </a:solidFill>
                <a:latin typeface="Segoe UI"/>
              </a:rPr>
              <a:t>WORKS ON ANY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3977639"/>
            <a:ext cx="309981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 i="0">
                <a:solidFill>
                  <a:srgbClr val="3A2410"/>
                </a:solidFill>
                <a:latin typeface="Segoe UI"/>
              </a:rPr>
              <a:t>Citizens install it once - accessibility on every website, no site cooperation.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697480"/>
            <a:ext cx="3611880" cy="3200400"/>
          </a:xfrm>
          <a:prstGeom prst="roundRect">
            <a:avLst>
              <a:gd name="adj" fmla="val 7000"/>
            </a:avLst>
          </a:prstGeom>
          <a:solidFill>
            <a:srgbClr val="E9ECFB"/>
          </a:solidFill>
          <a:ln w="25400">
            <a:solidFill>
              <a:srgbClr val="1B2A66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1" y="2926080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1B2A66"/>
                </a:solidFill>
                <a:latin typeface="Segoe UI"/>
              </a:rPr>
              <a:t>On-device Indian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1" y="3520440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7A5A38"/>
                </a:solidFill>
                <a:latin typeface="Segoe UI"/>
              </a:rPr>
              <a:t>PRIVATE &amp; 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3977639"/>
            <a:ext cx="309981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 i="0">
                <a:solidFill>
                  <a:srgbClr val="3A2410"/>
                </a:solidFill>
                <a:latin typeface="Segoe UI"/>
              </a:rPr>
              <a:t>Neural Odia/Hindi/English voice &amp; translation run in the browser.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Two ways in - the same powers</a:t>
            </a:r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41732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E9ECFB"/>
          </a:solidFill>
          <a:ln w="25400">
            <a:solidFill>
              <a:srgbClr val="1B2A66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1B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394960" cy="320040"/>
          </a:xfrm>
          <a:prstGeom prst="rect">
            <a:avLst/>
          </a:prstGeom>
          <a:solidFill>
            <a:srgbClr val="1B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17320"/>
            <a:ext cx="4846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F3DA"/>
                </a:solidFill>
                <a:latin typeface="Segoe UI"/>
              </a:rPr>
              <a:t>Institutions integrate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48463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1B2A66"/>
                </a:solidFill>
                <a:latin typeface="Segoe UI"/>
              </a:rPr>
              <a:t>▸  </a:t>
            </a:r>
            <a:r>
              <a:rPr sz="1550">
                <a:solidFill>
                  <a:srgbClr val="3A2410"/>
                </a:solidFill>
                <a:latin typeface="Segoe UI"/>
              </a:rPr>
              <a:t>Add one widget &lt;script&gt; line, or call the REST API.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1B2A66"/>
                </a:solidFill>
                <a:latin typeface="Segoe UI"/>
              </a:rPr>
              <a:t>▸  </a:t>
            </a:r>
            <a:r>
              <a:rPr sz="1550">
                <a:solidFill>
                  <a:srgbClr val="3A2410"/>
                </a:solidFill>
                <a:latin typeface="Segoe UI"/>
              </a:rPr>
              <a:t>Their site gains read-aloud, translation, voice-to-fill forms and an accessible exam mode.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1B2A66"/>
                </a:solidFill>
                <a:latin typeface="Segoe UI"/>
              </a:rPr>
              <a:t>▸  </a:t>
            </a:r>
            <a:r>
              <a:rPr sz="1550">
                <a:solidFill>
                  <a:srgbClr val="3A2410"/>
                </a:solidFill>
                <a:latin typeface="Segoe UI"/>
              </a:rPr>
              <a:t>Central control: API keys, usage metering, WCAG logging.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E4F4E9"/>
          </a:solidFill>
          <a:ln w="25400">
            <a:solidFill>
              <a:srgbClr val="1A7A3C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1A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783080"/>
            <a:ext cx="5394960" cy="320040"/>
          </a:xfrm>
          <a:prstGeom prst="rect">
            <a:avLst/>
          </a:prstGeom>
          <a:solidFill>
            <a:srgbClr val="1A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417320"/>
            <a:ext cx="4846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F3DA"/>
                </a:solidFill>
                <a:latin typeface="Segoe UI"/>
              </a:rPr>
              <a:t>Citizens install the extension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331720"/>
            <a:ext cx="48463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1A7A3C"/>
                </a:solidFill>
                <a:latin typeface="Segoe UI"/>
              </a:rPr>
              <a:t>▸  </a:t>
            </a:r>
            <a:r>
              <a:rPr sz="1550">
                <a:solidFill>
                  <a:srgbClr val="3A2410"/>
                </a:solidFill>
                <a:latin typeface="Segoe UI"/>
              </a:rPr>
              <a:t>One-time install in Chrome / Edge.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1A7A3C"/>
                </a:solidFill>
                <a:latin typeface="Segoe UI"/>
              </a:rPr>
              <a:t>▸  </a:t>
            </a:r>
            <a:r>
              <a:rPr sz="1550">
                <a:solidFill>
                  <a:srgbClr val="3A2410"/>
                </a:solidFill>
                <a:latin typeface="Segoe UI"/>
              </a:rPr>
              <a:t>Accessibility on ANY website - including legacy portals that will never be updated.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1A7A3C"/>
                </a:solidFill>
                <a:latin typeface="Segoe UI"/>
              </a:rPr>
              <a:t>▸  </a:t>
            </a:r>
            <a:r>
              <a:rPr sz="1550">
                <a:solidFill>
                  <a:srgbClr val="3A2410"/>
                </a:solidFill>
                <a:latin typeface="Segoe UI"/>
              </a:rPr>
              <a:t>Runs on-device: offline and even on strict-CSP sites.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10972800" cy="640080"/>
          </a:xfrm>
          <a:prstGeom prst="roundRect">
            <a:avLst>
              <a:gd name="adj" fmla="val 30000"/>
            </a:avLst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E1322"/>
                </a:solidFill>
                <a:latin typeface="Segoe UI"/>
              </a:rPr>
              <a:t>Power with the user - not just the site owner.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Core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566928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6B93F"/>
                </a:solidFill>
                <a:latin typeface="Segoe UI"/>
              </a:rPr>
              <a:t>two ways in -&gt; one API gateway -&gt; shared engines (also run on-device)</a:t>
            </a:r>
          </a:p>
        </p:txBody>
      </p:sp>
      <p:pic>
        <p:nvPicPr>
          <p:cNvPr id="7" name="Picture 6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8D1B2F"/>
                </a:solidFill>
                <a:latin typeface="Segoe UI"/>
              </a:rPr>
              <a:t>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3716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8D1B2F"/>
                </a:solidFill>
                <a:latin typeface="Segoe UI"/>
              </a:rPr>
              <a:t>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19" y="13716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8D1B2F"/>
                </a:solidFill>
                <a:latin typeface="Segoe UI"/>
              </a:rPr>
              <a:t>ENGINES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2697480" cy="1234440"/>
          </a:xfrm>
          <a:prstGeom prst="roundRect">
            <a:avLst>
              <a:gd name="adj" fmla="val 12000"/>
            </a:avLst>
          </a:prstGeom>
          <a:solidFill>
            <a:srgbClr val="FDECD4"/>
          </a:solidFill>
          <a:ln w="22225">
            <a:solidFill>
              <a:srgbClr val="EF7D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783080"/>
            <a:ext cx="2478024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2410"/>
                </a:solidFill>
                <a:latin typeface="Segoe UI"/>
              </a:rPr>
              <a:t>Institution site / app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>
                <a:solidFill>
                  <a:srgbClr val="7A5A38"/>
                </a:solidFill>
                <a:latin typeface="Segoe UI"/>
              </a:rPr>
              <a:t>widget (1 line) + REST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2697480" cy="1234440"/>
          </a:xfrm>
          <a:prstGeom prst="roundRect">
            <a:avLst>
              <a:gd name="adj" fmla="val 12000"/>
            </a:avLst>
          </a:prstGeom>
          <a:solidFill>
            <a:srgbClr val="FDECD4"/>
          </a:solidFill>
          <a:ln w="22225">
            <a:solidFill>
              <a:srgbClr val="EF7D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46120"/>
            <a:ext cx="2478024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2410"/>
                </a:solidFill>
                <a:latin typeface="Segoe UI"/>
              </a:rPr>
              <a:t>Browser extension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>
                <a:solidFill>
                  <a:srgbClr val="7A5A38"/>
                </a:solidFill>
                <a:latin typeface="Segoe UI"/>
              </a:rPr>
              <a:t>any website, on-device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1783080"/>
            <a:ext cx="3703320" cy="2697480"/>
          </a:xfrm>
          <a:prstGeom prst="roundRect">
            <a:avLst>
              <a:gd name="adj" fmla="val 5000"/>
            </a:avLst>
          </a:prstGeom>
          <a:solidFill>
            <a:srgbClr val="8D1B2F"/>
          </a:solidFill>
          <a:ln w="25400">
            <a:solidFill>
              <a:srgbClr val="E6B93F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1874519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3DA"/>
                </a:solidFill>
                <a:latin typeface="Segoe UI"/>
              </a:rPr>
              <a:t>Accessibility API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28600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E6B93F"/>
                </a:solidFill>
                <a:latin typeface="Segoe UI"/>
              </a:rPr>
              <a:t>X-API-Key  ·  multi-tenant  ·  CORS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2697480"/>
            <a:ext cx="1645920" cy="365760"/>
          </a:xfrm>
          <a:prstGeom prst="roundRect">
            <a:avLst>
              <a:gd name="adj" fmla="val 30000"/>
            </a:avLst>
          </a:prstGeom>
          <a:solidFill>
            <a:srgbClr val="FFF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269748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E1322"/>
                </a:solidFill>
                <a:latin typeface="Consolas"/>
              </a:rPr>
              <a:t>POST /tts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2697480"/>
            <a:ext cx="1645920" cy="365760"/>
          </a:xfrm>
          <a:prstGeom prst="roundRect">
            <a:avLst>
              <a:gd name="adj" fmla="val 30000"/>
            </a:avLst>
          </a:prstGeom>
          <a:solidFill>
            <a:srgbClr val="FFF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269748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E1322"/>
                </a:solidFill>
                <a:latin typeface="Consolas"/>
              </a:rPr>
              <a:t>POST /stt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154680"/>
            <a:ext cx="1645920" cy="365760"/>
          </a:xfrm>
          <a:prstGeom prst="roundRect">
            <a:avLst>
              <a:gd name="adj" fmla="val 30000"/>
            </a:avLst>
          </a:prstGeom>
          <a:solidFill>
            <a:srgbClr val="FFF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315468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E1322"/>
                </a:solidFill>
                <a:latin typeface="Consolas"/>
              </a:rPr>
              <a:t>POST /translate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3154680"/>
            <a:ext cx="1645920" cy="365760"/>
          </a:xfrm>
          <a:prstGeom prst="roundRect">
            <a:avLst>
              <a:gd name="adj" fmla="val 30000"/>
            </a:avLst>
          </a:prstGeom>
          <a:solidFill>
            <a:srgbClr val="FFF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315468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E1322"/>
                </a:solidFill>
                <a:latin typeface="Consolas"/>
              </a:rPr>
              <a:t>GET /widget.js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70332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E6B93F"/>
                </a:solidFill>
                <a:latin typeface="Segoe UI"/>
              </a:rPr>
              <a:t>usage metering · rate limiting · WCAG logging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77639" y="4617720"/>
            <a:ext cx="3703320" cy="868680"/>
          </a:xfrm>
          <a:prstGeom prst="roundRect">
            <a:avLst>
              <a:gd name="adj" fmla="val 12000"/>
            </a:avLst>
          </a:prstGeom>
          <a:solidFill>
            <a:srgbClr val="1B2A66"/>
          </a:solidFill>
          <a:ln w="22225">
            <a:solidFill>
              <a:srgbClr val="E6B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87368" y="4617720"/>
            <a:ext cx="3483863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3DA"/>
                </a:solidFill>
                <a:latin typeface="Segoe UI"/>
              </a:rPr>
              <a:t>Admin Dashboard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50">
                <a:solidFill>
                  <a:srgbClr val="BCD0FF"/>
                </a:solidFill>
                <a:latin typeface="Segoe UI"/>
              </a:rPr>
              <a:t>tenants · API keys · usage · WCAG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3977639" y="4526280"/>
            <a:ext cx="1847089" cy="91440"/>
          </a:xfrm>
          <a:prstGeom prst="bentConnector3">
            <a:avLst/>
          </a:prstGeom>
          <a:ln w="25400">
            <a:solidFill>
              <a:srgbClr val="C995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75320" y="1783080"/>
            <a:ext cx="3246120" cy="777240"/>
          </a:xfrm>
          <a:prstGeom prst="roundRect">
            <a:avLst>
              <a:gd name="adj" fmla="val 12000"/>
            </a:avLst>
          </a:prstGeom>
          <a:solidFill>
            <a:srgbClr val="E9ECFB"/>
          </a:solidFill>
          <a:ln w="22225">
            <a:solidFill>
              <a:srgbClr val="1B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8" y="1783080"/>
            <a:ext cx="3026663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A2410"/>
                </a:solidFill>
                <a:latin typeface="Segoe UI"/>
              </a:rPr>
              <a:t>Text-to-Speech + Screen Reader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00">
                <a:solidFill>
                  <a:srgbClr val="7A5A38"/>
                </a:solidFill>
                <a:latin typeface="Segoe UI"/>
              </a:rPr>
              <a:t>Meta MMS-TTS · Odia/Hindi/English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2724912"/>
            <a:ext cx="3246120" cy="777240"/>
          </a:xfrm>
          <a:prstGeom prst="roundRect">
            <a:avLst>
              <a:gd name="adj" fmla="val 12000"/>
            </a:avLst>
          </a:prstGeom>
          <a:solidFill>
            <a:srgbClr val="FDECD4"/>
          </a:solidFill>
          <a:ln w="22225">
            <a:solidFill>
              <a:srgbClr val="EF7D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2724912"/>
            <a:ext cx="3026663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A2410"/>
                </a:solidFill>
                <a:latin typeface="Segoe UI"/>
              </a:rPr>
              <a:t>Speech-to-Text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00">
                <a:solidFill>
                  <a:srgbClr val="7A5A38"/>
                </a:solidFill>
                <a:latin typeface="Segoe UI"/>
              </a:rPr>
              <a:t>Whisper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3666744"/>
            <a:ext cx="3246120" cy="777240"/>
          </a:xfrm>
          <a:prstGeom prst="roundRect">
            <a:avLst>
              <a:gd name="adj" fmla="val 12000"/>
            </a:avLst>
          </a:prstGeom>
          <a:solidFill>
            <a:srgbClr val="E4F4E9"/>
          </a:solidFill>
          <a:ln w="22225">
            <a:solidFill>
              <a:srgbClr val="1A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3666744"/>
            <a:ext cx="3026663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A2410"/>
                </a:solidFill>
                <a:latin typeface="Segoe UI"/>
              </a:rPr>
              <a:t>Translation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00">
                <a:solidFill>
                  <a:srgbClr val="7A5A38"/>
                </a:solidFill>
                <a:latin typeface="Segoe UI"/>
              </a:rPr>
              <a:t>AI4Bharat IndicTrans2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337560" y="2395728"/>
            <a:ext cx="640079" cy="256032"/>
          </a:xfrm>
          <a:prstGeom prst="bentConnector3">
            <a:avLst/>
          </a:prstGeom>
          <a:ln w="25400">
            <a:solidFill>
              <a:srgbClr val="C995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337560" y="3291840"/>
            <a:ext cx="640079" cy="566928"/>
          </a:xfrm>
          <a:prstGeom prst="bentConnector3">
            <a:avLst/>
          </a:prstGeom>
          <a:ln w="25400">
            <a:solidFill>
              <a:srgbClr val="C995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680960" y="2176272"/>
            <a:ext cx="594360" cy="292608"/>
          </a:xfrm>
          <a:prstGeom prst="bentConnector3">
            <a:avLst/>
          </a:prstGeom>
          <a:ln w="25400">
            <a:solidFill>
              <a:srgbClr val="C995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80960" y="2926080"/>
            <a:ext cx="594360" cy="182880"/>
          </a:xfrm>
          <a:prstGeom prst="bentConnector3">
            <a:avLst/>
          </a:prstGeom>
          <a:ln w="25400">
            <a:solidFill>
              <a:srgbClr val="C995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680960" y="3383280"/>
            <a:ext cx="594360" cy="667511"/>
          </a:xfrm>
          <a:prstGeom prst="bentConnector3">
            <a:avLst/>
          </a:prstGeom>
          <a:ln w="25400">
            <a:solidFill>
              <a:srgbClr val="C995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1">
                <a:solidFill>
                  <a:srgbClr val="7A5A38"/>
                </a:solidFill>
                <a:latin typeface="Segoe UI"/>
              </a:rPr>
              <a:t>On-device option: the extension runs all three engines in the browser via WebAssembly - offline, and even on strict-CSP sites.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How it works</a:t>
            </a:r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55448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1B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2011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3DA"/>
                </a:solidFill>
                <a:latin typeface="Segoe UI"/>
              </a:rPr>
              <a:t>Read aloud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664207"/>
            <a:ext cx="1908810" cy="640080"/>
          </a:xfrm>
          <a:prstGeom prst="roundRect">
            <a:avLst>
              <a:gd name="adj" fmla="val 12000"/>
            </a:avLst>
          </a:prstGeom>
          <a:solidFill>
            <a:srgbClr val="E9ECFB"/>
          </a:solidFill>
          <a:ln w="19050">
            <a:solidFill>
              <a:srgbClr val="1B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64207"/>
            <a:ext cx="181736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3A2410"/>
                </a:solidFill>
                <a:latin typeface="Segoe UI"/>
              </a:rPr>
              <a:t>Page 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80610" y="1984248"/>
            <a:ext cx="228600" cy="0"/>
          </a:xfrm>
          <a:prstGeom prst="bentConnector3">
            <a:avLst/>
          </a:prstGeom>
          <a:ln w="22225">
            <a:solidFill>
              <a:srgbClr val="1B2A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09210" y="1664207"/>
            <a:ext cx="1908810" cy="640080"/>
          </a:xfrm>
          <a:prstGeom prst="roundRect">
            <a:avLst>
              <a:gd name="adj" fmla="val 12000"/>
            </a:avLst>
          </a:prstGeom>
          <a:solidFill>
            <a:srgbClr val="E9ECFB"/>
          </a:solidFill>
          <a:ln w="19050">
            <a:solidFill>
              <a:srgbClr val="1B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4930" y="1664207"/>
            <a:ext cx="181736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3A2410"/>
                </a:solidFill>
                <a:latin typeface="Segoe UI"/>
              </a:rPr>
              <a:t>IndicTrans2 (if needed)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18020" y="1984248"/>
            <a:ext cx="228600" cy="0"/>
          </a:xfrm>
          <a:prstGeom prst="bentConnector3">
            <a:avLst/>
          </a:prstGeom>
          <a:ln w="22225">
            <a:solidFill>
              <a:srgbClr val="1B2A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46620" y="1664207"/>
            <a:ext cx="1908810" cy="640080"/>
          </a:xfrm>
          <a:prstGeom prst="roundRect">
            <a:avLst>
              <a:gd name="adj" fmla="val 12000"/>
            </a:avLst>
          </a:prstGeom>
          <a:solidFill>
            <a:srgbClr val="E9ECFB"/>
          </a:solidFill>
          <a:ln w="19050">
            <a:solidFill>
              <a:srgbClr val="1B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2340" y="1664207"/>
            <a:ext cx="181736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3A2410"/>
                </a:solidFill>
                <a:latin typeface="Segoe UI"/>
              </a:rPr>
              <a:t>MMS-TTS on-device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55430" y="1984248"/>
            <a:ext cx="228600" cy="0"/>
          </a:xfrm>
          <a:prstGeom prst="bentConnector3">
            <a:avLst/>
          </a:prstGeom>
          <a:ln w="22225">
            <a:solidFill>
              <a:srgbClr val="1B2A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84030" y="1664207"/>
            <a:ext cx="1908810" cy="640080"/>
          </a:xfrm>
          <a:prstGeom prst="roundRect">
            <a:avLst>
              <a:gd name="adj" fmla="val 12000"/>
            </a:avLst>
          </a:prstGeom>
          <a:solidFill>
            <a:srgbClr val="E9ECFB"/>
          </a:solidFill>
          <a:ln w="19050">
            <a:solidFill>
              <a:srgbClr val="1B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29750" y="1664207"/>
            <a:ext cx="181736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3A2410"/>
                </a:solidFill>
                <a:latin typeface="Segoe UI"/>
              </a:rPr>
              <a:t>Odia voice plays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8892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1A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788920"/>
            <a:ext cx="2011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3DA"/>
                </a:solidFill>
                <a:latin typeface="Segoe UI"/>
              </a:rPr>
              <a:t>Translate page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2898648"/>
            <a:ext cx="2621280" cy="640080"/>
          </a:xfrm>
          <a:prstGeom prst="roundRect">
            <a:avLst>
              <a:gd name="adj" fmla="val 12000"/>
            </a:avLst>
          </a:prstGeom>
          <a:solidFill>
            <a:srgbClr val="E4F4E9"/>
          </a:solidFill>
          <a:ln w="19050">
            <a:solidFill>
              <a:srgbClr val="1A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2898648"/>
            <a:ext cx="2529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3A2410"/>
                </a:solidFill>
                <a:latin typeface="Segoe UI"/>
              </a:rPr>
              <a:t>Page text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93080" y="3218687"/>
            <a:ext cx="228600" cy="0"/>
          </a:xfrm>
          <a:prstGeom prst="bentConnector3">
            <a:avLst/>
          </a:prstGeom>
          <a:ln w="22225">
            <a:solidFill>
              <a:srgbClr val="1A7A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821680" y="2898648"/>
            <a:ext cx="2621280" cy="640080"/>
          </a:xfrm>
          <a:prstGeom prst="roundRect">
            <a:avLst>
              <a:gd name="adj" fmla="val 12000"/>
            </a:avLst>
          </a:prstGeom>
          <a:solidFill>
            <a:srgbClr val="E4F4E9"/>
          </a:solidFill>
          <a:ln w="19050">
            <a:solidFill>
              <a:srgbClr val="1A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7400" y="2898648"/>
            <a:ext cx="2529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3A2410"/>
                </a:solidFill>
                <a:latin typeface="Segoe UI"/>
              </a:rPr>
              <a:t>IndicTrans2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42960" y="3218687"/>
            <a:ext cx="228600" cy="0"/>
          </a:xfrm>
          <a:prstGeom prst="bentConnector3">
            <a:avLst/>
          </a:prstGeom>
          <a:ln w="22225">
            <a:solidFill>
              <a:srgbClr val="1A7A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71560" y="2898648"/>
            <a:ext cx="2621280" cy="640080"/>
          </a:xfrm>
          <a:prstGeom prst="roundRect">
            <a:avLst>
              <a:gd name="adj" fmla="val 12000"/>
            </a:avLst>
          </a:prstGeom>
          <a:solidFill>
            <a:srgbClr val="E4F4E9"/>
          </a:solidFill>
          <a:ln w="19050">
            <a:solidFill>
              <a:srgbClr val="1A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7280" y="2898648"/>
            <a:ext cx="2529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3A2410"/>
                </a:solidFill>
                <a:latin typeface="Segoe UI"/>
              </a:rPr>
              <a:t>Page rewritten in Odia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02336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EF7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023360"/>
            <a:ext cx="2011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3DA"/>
                </a:solidFill>
                <a:latin typeface="Segoe UI"/>
              </a:rPr>
              <a:t>Speak to fill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71800" y="4133088"/>
            <a:ext cx="2621280" cy="640080"/>
          </a:xfrm>
          <a:prstGeom prst="roundRect">
            <a:avLst>
              <a:gd name="adj" fmla="val 12000"/>
            </a:avLst>
          </a:prstGeom>
          <a:solidFill>
            <a:srgbClr val="FDECD4"/>
          </a:solidFill>
          <a:ln w="19050">
            <a:solidFill>
              <a:srgbClr val="EF7D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4133088"/>
            <a:ext cx="2529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3A2410"/>
                </a:solidFill>
                <a:latin typeface="Segoe UI"/>
              </a:rPr>
              <a:t>Voice (mic)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93080" y="4453128"/>
            <a:ext cx="228600" cy="0"/>
          </a:xfrm>
          <a:prstGeom prst="bentConnector3">
            <a:avLst/>
          </a:prstGeom>
          <a:ln w="22225">
            <a:solidFill>
              <a:srgbClr val="EF7D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821680" y="4133088"/>
            <a:ext cx="2621280" cy="640080"/>
          </a:xfrm>
          <a:prstGeom prst="roundRect">
            <a:avLst>
              <a:gd name="adj" fmla="val 12000"/>
            </a:avLst>
          </a:prstGeom>
          <a:solidFill>
            <a:srgbClr val="FDECD4"/>
          </a:solidFill>
          <a:ln w="19050">
            <a:solidFill>
              <a:srgbClr val="EF7D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67400" y="4133088"/>
            <a:ext cx="2529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3A2410"/>
                </a:solidFill>
                <a:latin typeface="Segoe UI"/>
              </a:rPr>
              <a:t>Whisper on-device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42960" y="4453128"/>
            <a:ext cx="228600" cy="0"/>
          </a:xfrm>
          <a:prstGeom prst="bentConnector3">
            <a:avLst/>
          </a:prstGeom>
          <a:ln w="22225">
            <a:solidFill>
              <a:srgbClr val="EF7D1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671560" y="4133088"/>
            <a:ext cx="2621280" cy="640080"/>
          </a:xfrm>
          <a:prstGeom prst="roundRect">
            <a:avLst>
              <a:gd name="adj" fmla="val 12000"/>
            </a:avLst>
          </a:prstGeom>
          <a:solidFill>
            <a:srgbClr val="FDECD4"/>
          </a:solidFill>
          <a:ln w="19050">
            <a:solidFill>
              <a:srgbClr val="EF7D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17280" y="4133088"/>
            <a:ext cx="2529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3A2410"/>
                </a:solidFill>
                <a:latin typeface="Segoe UI"/>
              </a:rPr>
              <a:t>Form field auto-filled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715000"/>
            <a:ext cx="10972800" cy="731520"/>
          </a:xfrm>
          <a:prstGeom prst="roundRect">
            <a:avLst>
              <a:gd name="adj" fmla="val 20000"/>
            </a:avLst>
          </a:prstGeom>
          <a:solidFill>
            <a:srgbClr val="FDF3DD"/>
          </a:solidFill>
          <a:ln w="15875">
            <a:solidFill>
              <a:srgbClr val="C99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71500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7A5A38"/>
                </a:solidFill>
                <a:latin typeface="Segoe UI"/>
              </a:rPr>
              <a:t>"On-device" = runs inside the browser via WebAssembly. No server needed, fully offline, and translation is skipped when the page is already in your language.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It already works - live, on any site</a:t>
            </a:r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pic>
        <p:nvPicPr>
          <p:cNvPr id="7" name="Picture 6" descr="demo-wikipe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7955279" cy="37787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1325880"/>
            <a:ext cx="7955279" cy="3776472"/>
          </a:xfrm>
          <a:prstGeom prst="rect">
            <a:avLst/>
          </a:prstGeom>
          <a:noFill/>
          <a:ln w="19050">
            <a:solidFill>
              <a:srgbClr val="C99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554480"/>
            <a:ext cx="29260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 i="0">
                <a:solidFill>
                  <a:srgbClr val="8D1B2F"/>
                </a:solidFill>
                <a:latin typeface="Segoe UI"/>
              </a:rPr>
              <a:t>English Wikipedia -&gt; Odia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3A2410"/>
                </a:solidFill>
                <a:latin typeface="Segoe UI"/>
              </a:rPr>
              <a:t>Title and page flip to Odia in place, and the page reads aloud in a neural Odia voice.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A7A3C"/>
                </a:solidFill>
                <a:latin typeface="Segoe UI"/>
              </a:rPr>
              <a:t>No backend running.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3A2410"/>
                </a:solidFill>
                <a:latin typeface="Segoe UI"/>
              </a:rPr>
              <a:t>Works despite Wikipedia's strict Content-Security-Policy - because translation goes through the extension and the voice runs on-device.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One platform, six parts</a:t>
            </a:r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55448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DF3DD"/>
          </a:solidFill>
          <a:ln w="15875">
            <a:solidFill>
              <a:srgbClr val="C9952A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182880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EF7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847088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50" b="1" i="0">
                <a:solidFill>
                  <a:srgbClr val="3A2410"/>
                </a:solidFill>
                <a:latin typeface="Segoe UI"/>
              </a:rPr>
              <a:t>Speech-to-Text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7A5A38"/>
                </a:solidFill>
                <a:latin typeface="Segoe UI"/>
              </a:rPr>
              <a:t>Voice input, dictation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55448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DF3DD"/>
          </a:solidFill>
          <a:ln w="15875">
            <a:solidFill>
              <a:srgbClr val="C9952A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81728" y="182880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1B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82880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3288" y="1847088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50" b="1" i="0">
                <a:solidFill>
                  <a:srgbClr val="3A2410"/>
                </a:solidFill>
                <a:latin typeface="Segoe UI"/>
              </a:rPr>
              <a:t>Text-to-Speech + Screen Reader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7A5A38"/>
                </a:solidFill>
                <a:latin typeface="Segoe UI"/>
              </a:rPr>
              <a:t>Neural Odia/Hindi/English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7616" y="155448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DF3DD"/>
          </a:solidFill>
          <a:ln w="15875">
            <a:solidFill>
              <a:srgbClr val="C9952A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40496" y="182880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182880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92056" y="1847088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50" b="1" i="0">
                <a:solidFill>
                  <a:srgbClr val="3A2410"/>
                </a:solidFill>
                <a:latin typeface="Segoe UI"/>
              </a:rPr>
              <a:t>Accessibility API Gateway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7A5A38"/>
                </a:solidFill>
                <a:latin typeface="Segoe UI"/>
              </a:rPr>
              <a:t>The plug-and-play surface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DF3DD"/>
          </a:solidFill>
          <a:ln w="15875">
            <a:solidFill>
              <a:srgbClr val="C9952A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59" y="3520439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1A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520439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538727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50" b="1" i="0">
                <a:solidFill>
                  <a:srgbClr val="3A2410"/>
                </a:solidFill>
                <a:latin typeface="Segoe UI"/>
              </a:rPr>
              <a:t>Translation - IndicTrans2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7A5A38"/>
                </a:solidFill>
                <a:latin typeface="Segoe UI"/>
              </a:rPr>
              <a:t>Indic-tuned, Odia-first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98848" y="324612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DF3DD"/>
          </a:solidFill>
          <a:ln w="15875">
            <a:solidFill>
              <a:srgbClr val="C9952A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81728" y="3520439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EF7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3520439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3538727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50" b="1" i="0">
                <a:solidFill>
                  <a:srgbClr val="3A2410"/>
                </a:solidFill>
                <a:latin typeface="Segoe UI"/>
              </a:rPr>
              <a:t>Accessible Exam module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7A5A38"/>
                </a:solidFill>
                <a:latin typeface="Segoe UI"/>
              </a:rPr>
              <a:t>Extra time, audio, dyslexia fonts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57616" y="324612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DF3DD"/>
          </a:solidFill>
          <a:ln w="15875">
            <a:solidFill>
              <a:srgbClr val="C9952A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40496" y="3520439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1B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0496" y="3520439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2056" y="3538727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50" b="1" i="0">
                <a:solidFill>
                  <a:srgbClr val="3A2410"/>
                </a:solidFill>
                <a:latin typeface="Segoe UI"/>
              </a:rPr>
              <a:t>Admin Dashboard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7A5A38"/>
                </a:solidFill>
                <a:latin typeface="Segoe UI"/>
              </a:rPr>
              <a:t>Tenants, keys, usage, WCAG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Built to run anywhere</a:t>
            </a:r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371600"/>
            <a:ext cx="676656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EF7D16"/>
                </a:solidFill>
                <a:latin typeface="Segoe UI"/>
              </a:rPr>
              <a:t>▸  </a:t>
            </a:r>
            <a:r>
              <a:rPr sz="1650" b="1">
                <a:solidFill>
                  <a:srgbClr val="3A2410"/>
                </a:solidFill>
                <a:latin typeface="Segoe UI"/>
              </a:rPr>
              <a:t>Browser extension (MV3):  </a:t>
            </a:r>
            <a:r>
              <a:rPr sz="1650">
                <a:solidFill>
                  <a:srgbClr val="3A2410"/>
                </a:solidFill>
                <a:latin typeface="Segoe UI"/>
              </a:rPr>
              <a:t>MAIN + isolated worlds, a Shadow-DOM widget that can't clash with any page.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EF7D16"/>
                </a:solidFill>
                <a:latin typeface="Segoe UI"/>
              </a:rPr>
              <a:t>▸  </a:t>
            </a:r>
            <a:r>
              <a:rPr sz="1650" b="1">
                <a:solidFill>
                  <a:srgbClr val="3A2410"/>
                </a:solidFill>
                <a:latin typeface="Segoe UI"/>
              </a:rPr>
              <a:t>FastAPI gateway:  </a:t>
            </a:r>
            <a:r>
              <a:rPr sz="1650">
                <a:solidFill>
                  <a:srgbClr val="3A2410"/>
                </a:solidFill>
                <a:latin typeface="Segoe UI"/>
              </a:rPr>
              <a:t>multi-tenant, X-API-Key auth, CORS, usage metering, WCAG logging.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EF7D16"/>
                </a:solidFill>
                <a:latin typeface="Segoe UI"/>
              </a:rPr>
              <a:t>▸  </a:t>
            </a:r>
            <a:r>
              <a:rPr sz="1650" b="1">
                <a:solidFill>
                  <a:srgbClr val="3A2410"/>
                </a:solidFill>
                <a:latin typeface="Segoe UI"/>
              </a:rPr>
              <a:t>Voices - Meta MMS-TTS:  </a:t>
            </a:r>
            <a:r>
              <a:rPr sz="1650">
                <a:solidFill>
                  <a:srgbClr val="3A2410"/>
                </a:solidFill>
                <a:latin typeface="Segoe UI"/>
              </a:rPr>
              <a:t>Odia, Hindi &amp; English neural speech.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EF7D16"/>
                </a:solidFill>
                <a:latin typeface="Segoe UI"/>
              </a:rPr>
              <a:t>▸  </a:t>
            </a:r>
            <a:r>
              <a:rPr sz="1650" b="1">
                <a:solidFill>
                  <a:srgbClr val="3A2410"/>
                </a:solidFill>
                <a:latin typeface="Segoe UI"/>
              </a:rPr>
              <a:t>Speech-to-Text - Whisper;  </a:t>
            </a:r>
            <a:r>
              <a:rPr sz="1650">
                <a:solidFill>
                  <a:srgbClr val="3A2410"/>
                </a:solidFill>
                <a:latin typeface="Segoe UI"/>
              </a:rPr>
              <a:t>Translation - AI4Bharat IndicTrans2.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EF7D16"/>
                </a:solidFill>
                <a:latin typeface="Segoe UI"/>
              </a:rPr>
              <a:t>▸  </a:t>
            </a:r>
            <a:r>
              <a:rPr sz="1650" b="1">
                <a:solidFill>
                  <a:srgbClr val="3A2410"/>
                </a:solidFill>
                <a:latin typeface="Segoe UI"/>
              </a:rPr>
              <a:t>On-device runtime:  </a:t>
            </a:r>
            <a:r>
              <a:rPr sz="1650">
                <a:solidFill>
                  <a:srgbClr val="3A2410"/>
                </a:solidFill>
                <a:latin typeface="Segoe UI"/>
              </a:rPr>
              <a:t>transformers.js + ONNX / WebAssembly - inference in the browser.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EF7D16"/>
                </a:solidFill>
                <a:latin typeface="Segoe UI"/>
              </a:rPr>
              <a:t>▸  </a:t>
            </a:r>
            <a:r>
              <a:rPr sz="1650" b="1">
                <a:solidFill>
                  <a:srgbClr val="3A2410"/>
                </a:solidFill>
                <a:latin typeface="Segoe UI"/>
              </a:rPr>
              <a:t>Portable bundle:  </a:t>
            </a:r>
            <a:r>
              <a:rPr sz="1650">
                <a:solidFill>
                  <a:srgbClr val="3A2410"/>
                </a:solidFill>
                <a:latin typeface="Segoe UI"/>
              </a:rPr>
              <a:t>the whole stack runs offline from a USB / folder (start.bat).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463040"/>
            <a:ext cx="3886200" cy="4480560"/>
          </a:xfrm>
          <a:prstGeom prst="roundRect">
            <a:avLst>
              <a:gd name="adj" fmla="val 6000"/>
            </a:avLst>
          </a:prstGeom>
          <a:solidFill>
            <a:srgbClr val="8D1B2F"/>
          </a:solidFill>
          <a:ln>
            <a:noFill/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6916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6B93F"/>
                </a:solidFill>
                <a:latin typeface="Segoe U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331720"/>
            <a:ext cx="33832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E6B93F"/>
                </a:solidFill>
                <a:latin typeface="Segoe UI"/>
              </a:rPr>
              <a:t>▸  </a:t>
            </a:r>
            <a:r>
              <a:rPr sz="1450">
                <a:solidFill>
                  <a:srgbClr val="FFF7E9"/>
                </a:solidFill>
                <a:latin typeface="Segoe UI"/>
              </a:rPr>
              <a:t>Privacy: voice &amp; text stay on the device.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E6B93F"/>
                </a:solidFill>
                <a:latin typeface="Segoe UI"/>
              </a:rPr>
              <a:t>▸  </a:t>
            </a:r>
            <a:r>
              <a:rPr sz="1450">
                <a:solidFill>
                  <a:srgbClr val="FFF7E9"/>
                </a:solidFill>
                <a:latin typeface="Segoe UI"/>
              </a:rPr>
              <a:t>Offline: no connectivity required.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E6B93F"/>
                </a:solidFill>
                <a:latin typeface="Segoe UI"/>
              </a:rPr>
              <a:t>▸  </a:t>
            </a:r>
            <a:r>
              <a:rPr sz="1450">
                <a:solidFill>
                  <a:srgbClr val="FFF7E9"/>
                </a:solidFill>
                <a:latin typeface="Segoe UI"/>
              </a:rPr>
              <a:t>Resilient: works on strict-CSP sites.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E6B93F"/>
                </a:solidFill>
                <a:latin typeface="Segoe UI"/>
              </a:rPr>
              <a:t>▸  </a:t>
            </a:r>
            <a:r>
              <a:rPr sz="1450">
                <a:solidFill>
                  <a:srgbClr val="FFF7E9"/>
                </a:solidFill>
                <a:latin typeface="Segoe UI"/>
              </a:rPr>
              <a:t>Low cost: no per-call cloud AI bills.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Isn't this just another accessibility overlay?</a:t>
            </a:r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  <a:gridCol w="4389120"/>
              </a:tblGrid>
              <a:tr h="746760">
                <a:tc>
                  <a:txBody>
                    <a:bodyPr wrap="square"/>
                    <a:lstStyle/>
                    <a:p>
                      <a:r>
                        <a:rPr b="1" sz="1450">
                          <a:solidFill>
                            <a:srgbClr val="FFF3D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91440" marT="36576" marB="36576" anchor="ctr">
                    <a:solidFill>
                      <a:srgbClr val="8D1B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50">
                          <a:solidFill>
                            <a:srgbClr val="FFF3DA"/>
                          </a:solidFill>
                          <a:latin typeface="Segoe UI"/>
                        </a:rPr>
                        <a:t>Overlays (accessiBe / UserWay)</a:t>
                      </a:r>
                    </a:p>
                  </a:txBody>
                  <a:tcPr marL="109728" marR="91440" marT="36576" marB="36576" anchor="ctr">
                    <a:solidFill>
                      <a:srgbClr val="8D1B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50">
                          <a:solidFill>
                            <a:srgbClr val="FFF3DA"/>
                          </a:solidFill>
                          <a:latin typeface="Segoe UI"/>
                        </a:rPr>
                        <a:t>AaaS</a:t>
                      </a:r>
                    </a:p>
                  </a:txBody>
                  <a:tcPr marL="109728" marR="91440" marT="36576" marB="36576" anchor="ctr">
                    <a:solidFill>
                      <a:srgbClr val="1A7A3C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8D1B2F"/>
                          </a:solidFill>
                          <a:latin typeface="Segoe UI"/>
                        </a:rPr>
                        <a:t>Who controls it</a:t>
                      </a:r>
                    </a:p>
                  </a:txBody>
                  <a:tcPr marL="109728" marR="91440" marT="36576" marB="36576" anchor="ctr">
                    <a:solidFill>
                      <a:srgbClr val="FDF3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A2410"/>
                          </a:solidFill>
                          <a:latin typeface="Segoe UI"/>
                        </a:rPr>
                        <a:t>Site owner installs &amp; pays; one site only</a:t>
                      </a:r>
                    </a:p>
                  </a:txBody>
                  <a:tcPr marL="109728" marR="91440" marT="36576" marB="36576" anchor="ctr">
                    <a:solidFill>
                      <a:srgbClr val="FDF3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5A2C"/>
                          </a:solidFill>
                          <a:latin typeface="Segoe UI"/>
                        </a:rPr>
                        <a:t>User installs the extension -&gt; works on ANY site</a:t>
                      </a:r>
                    </a:p>
                  </a:txBody>
                  <a:tcPr marL="109728" marR="91440" marT="36576" marB="36576" anchor="ctr">
                    <a:solidFill>
                      <a:srgbClr val="E4F4E9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8D1B2F"/>
                          </a:solidFill>
                          <a:latin typeface="Segoe UI"/>
                        </a:rPr>
                        <a:t>Language</a:t>
                      </a:r>
                    </a:p>
                  </a:txBody>
                  <a:tcPr marL="109728" marR="91440" marT="36576" marB="36576" anchor="ctr">
                    <a:solidFill>
                      <a:srgbClr val="FDF3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A2410"/>
                          </a:solidFill>
                          <a:latin typeface="Segoe UI"/>
                        </a:rPr>
                        <a:t>English / Western-centric</a:t>
                      </a:r>
                    </a:p>
                  </a:txBody>
                  <a:tcPr marL="109728" marR="91440" marT="36576" marB="36576" anchor="ctr">
                    <a:solidFill>
                      <a:srgbClr val="FDF3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5A2C"/>
                          </a:solidFill>
                          <a:latin typeface="Segoe UI"/>
                        </a:rPr>
                        <a:t>Odia &amp; Hindi first, via IndicTrans2</a:t>
                      </a:r>
                    </a:p>
                  </a:txBody>
                  <a:tcPr marL="109728" marR="91440" marT="36576" marB="36576" anchor="ctr">
                    <a:solidFill>
                      <a:srgbClr val="E4F4E9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8D1B2F"/>
                          </a:solidFill>
                          <a:latin typeface="Segoe UI"/>
                        </a:rPr>
                        <a:t>Data</a:t>
                      </a:r>
                    </a:p>
                  </a:txBody>
                  <a:tcPr marL="109728" marR="91440" marT="36576" marB="36576" anchor="ctr">
                    <a:solidFill>
                      <a:srgbClr val="FDF3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A2410"/>
                          </a:solidFill>
                          <a:latin typeface="Segoe UI"/>
                        </a:rPr>
                        <a:t>Cloud SaaS; content sent to their servers</a:t>
                      </a:r>
                    </a:p>
                  </a:txBody>
                  <a:tcPr marL="109728" marR="91440" marT="36576" marB="36576" anchor="ctr">
                    <a:solidFill>
                      <a:srgbClr val="FDF3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5A2C"/>
                          </a:solidFill>
                          <a:latin typeface="Segoe UI"/>
                        </a:rPr>
                        <a:t>On-device &amp; in-country; DPDP-friendly</a:t>
                      </a:r>
                    </a:p>
                  </a:txBody>
                  <a:tcPr marL="109728" marR="91440" marT="36576" marB="36576" anchor="ctr">
                    <a:solidFill>
                      <a:srgbClr val="E4F4E9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8D1B2F"/>
                          </a:solidFill>
                          <a:latin typeface="Segoe UI"/>
                        </a:rPr>
                        <a:t>Claim</a:t>
                      </a:r>
                    </a:p>
                  </a:txBody>
                  <a:tcPr marL="109728" marR="91440" marT="36576" marB="36576" anchor="ctr">
                    <a:solidFill>
                      <a:srgbClr val="FDF3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A2410"/>
                          </a:solidFill>
                          <a:latin typeface="Segoe UI"/>
                        </a:rPr>
                        <a:t>"Auto-makes you compliant" (criticised)</a:t>
                      </a:r>
                    </a:p>
                  </a:txBody>
                  <a:tcPr marL="109728" marR="91440" marT="36576" marB="36576" anchor="ctr">
                    <a:solidFill>
                      <a:srgbClr val="FDF3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5A2C"/>
                          </a:solidFill>
                          <a:latin typeface="Segoe UI"/>
                        </a:rPr>
                        <a:t>Honest: assistive layer + API toolkit</a:t>
                      </a:r>
                    </a:p>
                  </a:txBody>
                  <a:tcPr marL="109728" marR="91440" marT="36576" marB="36576" anchor="ctr">
                    <a:solidFill>
                      <a:srgbClr val="E4F4E9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8D1B2F"/>
                          </a:solidFill>
                          <a:latin typeface="Segoe UI"/>
                        </a:rPr>
                        <a:t>Extras</a:t>
                      </a:r>
                    </a:p>
                  </a:txBody>
                  <a:tcPr marL="109728" marR="91440" marT="36576" marB="36576" anchor="ctr">
                    <a:solidFill>
                      <a:srgbClr val="FDF3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A2410"/>
                          </a:solidFill>
                          <a:latin typeface="Segoe UI"/>
                        </a:rPr>
                        <a:t>Generic toolbar</a:t>
                      </a:r>
                    </a:p>
                  </a:txBody>
                  <a:tcPr marL="109728" marR="91440" marT="36576" marB="36576" anchor="ctr">
                    <a:solidFill>
                      <a:srgbClr val="FDF3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5A2C"/>
                          </a:solidFill>
                          <a:latin typeface="Segoe UI"/>
                        </a:rPr>
                        <a:t>Voice-to-fill, exam mode, admin &amp; WCAG logs</a:t>
                      </a:r>
                    </a:p>
                  </a:txBody>
                  <a:tcPr marL="109728" marR="91440" marT="36576" marB="36576" anchor="ctr">
                    <a:solidFill>
                      <a:srgbClr val="E4F4E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1">
                <a:solidFill>
                  <a:srgbClr val="8D1B2F"/>
                </a:solidFill>
                <a:latin typeface="Segoe UI"/>
              </a:rPr>
              <a:t>We are not a compliance shortcut - we are accessibility infrastructure with first-class Indian-language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Why government should adopt AaaS</a:t>
            </a:r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800" b="1">
                <a:solidFill>
                  <a:srgbClr val="3A2410"/>
                </a:solidFill>
                <a:latin typeface="Segoe UI"/>
              </a:rPr>
              <a:t>Compliance, built in:  </a:t>
            </a:r>
            <a:r>
              <a:rPr sz="1800">
                <a:solidFill>
                  <a:srgbClr val="3A2410"/>
                </a:solidFill>
                <a:latin typeface="Segoe UI"/>
              </a:rPr>
              <a:t>helps meet the RPwD Act 2016, GIGW 3.0 and WCAG 2.1 - with WCAG result logging for evidence.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800" b="1">
                <a:solidFill>
                  <a:srgbClr val="3A2410"/>
                </a:solidFill>
                <a:latin typeface="Segoe UI"/>
              </a:rPr>
              <a:t>Real inclusion:  </a:t>
            </a:r>
            <a:r>
              <a:rPr sz="1800">
                <a:solidFill>
                  <a:srgbClr val="3A2410"/>
                </a:solidFill>
                <a:latin typeface="Segoe UI"/>
              </a:rPr>
              <a:t>first-class Odia &amp; Hindi reaches the citizens English-only tools miss.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800" b="1">
                <a:solidFill>
                  <a:srgbClr val="3A2410"/>
                </a:solidFill>
                <a:latin typeface="Segoe UI"/>
              </a:rPr>
              <a:t>Data sovereignty:  </a:t>
            </a:r>
            <a:r>
              <a:rPr sz="1800">
                <a:solidFill>
                  <a:srgbClr val="3A2410"/>
                </a:solidFill>
                <a:latin typeface="Segoe UI"/>
              </a:rPr>
              <a:t>on-device &amp; in-country processing - DPDP Act 2023 friendly; no citizen data sent to foreign clouds.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800" b="1">
                <a:solidFill>
                  <a:srgbClr val="3A2410"/>
                </a:solidFill>
                <a:latin typeface="Segoe UI"/>
              </a:rPr>
              <a:t>Cost-efficient:  </a:t>
            </a:r>
            <a:r>
              <a:rPr sz="1800">
                <a:solidFill>
                  <a:srgbClr val="3A2410"/>
                </a:solidFill>
                <a:latin typeface="Segoe UI"/>
              </a:rPr>
              <a:t>one shared platform instead of every department reinventing it - and it works on existing legacy portals, no rebuild.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800" b="1">
                <a:solidFill>
                  <a:srgbClr val="3A2410"/>
                </a:solidFill>
                <a:latin typeface="Segoe UI"/>
              </a:rPr>
              <a:t>Maximum reach:  </a:t>
            </a:r>
            <a:r>
              <a:rPr sz="1800">
                <a:solidFill>
                  <a:srgbClr val="3A2410"/>
                </a:solidFill>
                <a:latin typeface="Segoe UI"/>
              </a:rPr>
              <a:t>the extension covers sites that cannot be changed today, so impact is immediate.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Impact &amp; alignment</a:t>
            </a:r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417320"/>
            <a:ext cx="5394960" cy="4480560"/>
          </a:xfrm>
          <a:prstGeom prst="roundRect">
            <a:avLst>
              <a:gd name="adj" fmla="val 5000"/>
            </a:avLst>
          </a:prstGeom>
          <a:solidFill>
            <a:srgbClr val="FDF3DD"/>
          </a:solidFill>
          <a:ln w="15875">
            <a:solidFill>
              <a:srgbClr val="C9952A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8D1B2F"/>
                </a:solidFill>
                <a:latin typeface="Segoe UI"/>
              </a:rPr>
              <a:t>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EF7D16"/>
                </a:solidFill>
                <a:latin typeface="Segoe UI"/>
              </a:rPr>
              <a:t>▸  </a:t>
            </a:r>
            <a:r>
              <a:rPr sz="1550">
                <a:solidFill>
                  <a:srgbClr val="3A2410"/>
                </a:solidFill>
                <a:latin typeface="Segoe UI"/>
              </a:rPr>
              <a:t>Any citizen can hear &amp; read any public page in Odia.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EF7D16"/>
                </a:solidFill>
                <a:latin typeface="Segoe UI"/>
              </a:rPr>
              <a:t>▸  </a:t>
            </a:r>
            <a:r>
              <a:rPr sz="1550">
                <a:solidFill>
                  <a:srgbClr val="3A2410"/>
                </a:solidFill>
                <a:latin typeface="Segoe UI"/>
              </a:rPr>
              <a:t>Exams become accessible for students with disabilities.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EF7D16"/>
                </a:solidFill>
                <a:latin typeface="Segoe UI"/>
              </a:rPr>
              <a:t>▸  </a:t>
            </a:r>
            <a:r>
              <a:rPr sz="1550">
                <a:solidFill>
                  <a:srgbClr val="3A2410"/>
                </a:solidFill>
                <a:latin typeface="Segoe UI"/>
              </a:rPr>
              <a:t>Departments get measurable WCAG compliance.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EF7D16"/>
                </a:solidFill>
                <a:latin typeface="Segoe UI"/>
              </a:rPr>
              <a:t>▸  </a:t>
            </a:r>
            <a:r>
              <a:rPr sz="1550">
                <a:solidFill>
                  <a:srgbClr val="3A2410"/>
                </a:solidFill>
                <a:latin typeface="Segoe UI"/>
              </a:rPr>
              <a:t>Accessibility delivered without rebuilding old sites.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94960" cy="4480560"/>
          </a:xfrm>
          <a:prstGeom prst="roundRect">
            <a:avLst>
              <a:gd name="adj" fmla="val 5000"/>
            </a:avLst>
          </a:prstGeom>
          <a:solidFill>
            <a:srgbClr val="8D1B2F"/>
          </a:solidFill>
          <a:ln>
            <a:noFill/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6B93F"/>
                </a:solidFill>
                <a:latin typeface="Segoe UI"/>
              </a:rPr>
              <a:t>Aligns with national 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E6B93F"/>
                </a:solidFill>
                <a:latin typeface="Segoe UI"/>
              </a:rPr>
              <a:t>▸  </a:t>
            </a:r>
            <a:r>
              <a:rPr sz="1550">
                <a:solidFill>
                  <a:srgbClr val="FFF7E9"/>
                </a:solidFill>
                <a:latin typeface="Segoe UI"/>
              </a:rPr>
              <a:t>Digital India - inclusive e-governance.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E6B93F"/>
                </a:solidFill>
                <a:latin typeface="Segoe UI"/>
              </a:rPr>
              <a:t>▸  </a:t>
            </a:r>
            <a:r>
              <a:rPr sz="1550">
                <a:solidFill>
                  <a:srgbClr val="FFF7E9"/>
                </a:solidFill>
                <a:latin typeface="Segoe UI"/>
              </a:rPr>
              <a:t>Sugamya Bharat (Accessible India Campaign).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E6B93F"/>
                </a:solidFill>
                <a:latin typeface="Segoe UI"/>
              </a:rPr>
              <a:t>▸  </a:t>
            </a:r>
            <a:r>
              <a:rPr sz="1550">
                <a:solidFill>
                  <a:srgbClr val="FFF7E9"/>
                </a:solidFill>
                <a:latin typeface="Segoe UI"/>
              </a:rPr>
              <a:t>SDG 10 - reduced inequalities.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E6B93F"/>
                </a:solidFill>
                <a:latin typeface="Segoe UI"/>
              </a:rPr>
              <a:t>▸  </a:t>
            </a:r>
            <a:r>
              <a:rPr sz="1550">
                <a:solidFill>
                  <a:srgbClr val="FFF7E9"/>
                </a:solidFill>
                <a:latin typeface="Segoe UI"/>
              </a:rPr>
              <a:t>SDG 4 - inclusive, quality education.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Way forward</a:t>
            </a:r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554480"/>
            <a:ext cx="3611880" cy="4206240"/>
          </a:xfrm>
          <a:prstGeom prst="roundRect">
            <a:avLst>
              <a:gd name="adj" fmla="val 5000"/>
            </a:avLst>
          </a:prstGeom>
          <a:solidFill>
            <a:srgbClr val="E4F4E9"/>
          </a:solidFill>
          <a:ln w="25400">
            <a:solidFill>
              <a:srgbClr val="1A7A3C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611880" cy="731520"/>
          </a:xfrm>
          <a:prstGeom prst="roundRect">
            <a:avLst>
              <a:gd name="adj" fmla="val 14000"/>
            </a:avLst>
          </a:prstGeom>
          <a:solidFill>
            <a:srgbClr val="1A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3611880" cy="365760"/>
          </a:xfrm>
          <a:prstGeom prst="rect">
            <a:avLst/>
          </a:prstGeom>
          <a:solidFill>
            <a:srgbClr val="1A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54480"/>
            <a:ext cx="3246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FFF3DA"/>
                </a:solidFill>
                <a:latin typeface="Segoe UI"/>
              </a:rPr>
              <a:t>NOW -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A7A3C"/>
                </a:solidFill>
                <a:latin typeface="Segoe UI"/>
              </a:rPr>
              <a:t>▸  </a:t>
            </a:r>
            <a:r>
              <a:rPr sz="1500">
                <a:solidFill>
                  <a:srgbClr val="3A2410"/>
                </a:solidFill>
                <a:latin typeface="Segoe UI"/>
              </a:rPr>
              <a:t>Extension + gateway live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A7A3C"/>
                </a:solidFill>
                <a:latin typeface="Segoe UI"/>
              </a:rPr>
              <a:t>▸  </a:t>
            </a:r>
            <a:r>
              <a:rPr sz="1500">
                <a:solidFill>
                  <a:srgbClr val="3A2410"/>
                </a:solidFill>
                <a:latin typeface="Segoe UI"/>
              </a:rPr>
              <a:t>Odia / Hindi / English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A7A3C"/>
                </a:solidFill>
                <a:latin typeface="Segoe UI"/>
              </a:rPr>
              <a:t>▸  </a:t>
            </a:r>
            <a:r>
              <a:rPr sz="1500">
                <a:solidFill>
                  <a:srgbClr val="3A2410"/>
                </a:solidFill>
                <a:latin typeface="Segoe UI"/>
              </a:rPr>
              <a:t>On-device TTS &amp; STT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A7A3C"/>
                </a:solidFill>
                <a:latin typeface="Segoe UI"/>
              </a:rPr>
              <a:t>▸  </a:t>
            </a:r>
            <a:r>
              <a:rPr sz="1500">
                <a:solidFill>
                  <a:srgbClr val="3A2410"/>
                </a:solidFill>
                <a:latin typeface="Segoe UI"/>
              </a:rPr>
              <a:t>Offline portable bundle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70248" y="3657600"/>
            <a:ext cx="210312" cy="0"/>
          </a:xfrm>
          <a:prstGeom prst="bentConnector3">
            <a:avLst/>
          </a:prstGeom>
          <a:ln w="31750">
            <a:solidFill>
              <a:srgbClr val="C995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98848" y="1554480"/>
            <a:ext cx="3611880" cy="4206240"/>
          </a:xfrm>
          <a:prstGeom prst="roundRect">
            <a:avLst>
              <a:gd name="adj" fmla="val 5000"/>
            </a:avLst>
          </a:prstGeom>
          <a:solidFill>
            <a:srgbClr val="FDECD4"/>
          </a:solidFill>
          <a:ln w="25400">
            <a:solidFill>
              <a:srgbClr val="EF7D16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98848" y="1554480"/>
            <a:ext cx="3611880" cy="731520"/>
          </a:xfrm>
          <a:prstGeom prst="roundRect">
            <a:avLst>
              <a:gd name="adj" fmla="val 14000"/>
            </a:avLst>
          </a:prstGeom>
          <a:solidFill>
            <a:srgbClr val="EF7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8848" y="1920240"/>
            <a:ext cx="3611880" cy="365760"/>
          </a:xfrm>
          <a:prstGeom prst="rect">
            <a:avLst/>
          </a:prstGeom>
          <a:solidFill>
            <a:srgbClr val="EF7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554480"/>
            <a:ext cx="3246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FFF3DA"/>
                </a:solidFill>
                <a:latin typeface="Segoe UI"/>
              </a:rPr>
              <a:t>NEXT - 3-6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51460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500">
                <a:solidFill>
                  <a:srgbClr val="3A2410"/>
                </a:solidFill>
                <a:latin typeface="Segoe UI"/>
              </a:rPr>
              <a:t>More Indian languages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500">
                <a:solidFill>
                  <a:srgbClr val="3A2410"/>
                </a:solidFill>
                <a:latin typeface="Segoe UI"/>
              </a:rPr>
              <a:t>Pilot with one govt dept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500">
                <a:solidFill>
                  <a:srgbClr val="3A2410"/>
                </a:solidFill>
                <a:latin typeface="Segoe UI"/>
              </a:rPr>
              <a:t>Android / mobile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500">
                <a:solidFill>
                  <a:srgbClr val="3A2410"/>
                </a:solidFill>
                <a:latin typeface="Segoe UI"/>
              </a:rPr>
              <a:t>Sign-language avatar (R&amp;D)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29016" y="3657600"/>
            <a:ext cx="210312" cy="0"/>
          </a:xfrm>
          <a:prstGeom prst="bentConnector3">
            <a:avLst/>
          </a:prstGeom>
          <a:ln w="31750">
            <a:solidFill>
              <a:srgbClr val="C995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57616" y="1554480"/>
            <a:ext cx="3611880" cy="4206240"/>
          </a:xfrm>
          <a:prstGeom prst="roundRect">
            <a:avLst>
              <a:gd name="adj" fmla="val 5000"/>
            </a:avLst>
          </a:prstGeom>
          <a:solidFill>
            <a:srgbClr val="E9ECFB"/>
          </a:solidFill>
          <a:ln w="25400">
            <a:solidFill>
              <a:srgbClr val="1B2A66"/>
            </a:solidFill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57616" y="1554480"/>
            <a:ext cx="3611880" cy="731520"/>
          </a:xfrm>
          <a:prstGeom prst="roundRect">
            <a:avLst>
              <a:gd name="adj" fmla="val 14000"/>
            </a:avLst>
          </a:prstGeom>
          <a:solidFill>
            <a:srgbClr val="1B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57616" y="1920240"/>
            <a:ext cx="3611880" cy="365760"/>
          </a:xfrm>
          <a:prstGeom prst="rect">
            <a:avLst/>
          </a:prstGeom>
          <a:solidFill>
            <a:srgbClr val="1B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0496" y="1554480"/>
            <a:ext cx="3246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FFF3DA"/>
                </a:solidFill>
                <a:latin typeface="Segoe UI"/>
              </a:rPr>
              <a:t>LATER - 6-12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1936" y="2514600"/>
            <a:ext cx="31089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B2A66"/>
                </a:solidFill>
                <a:latin typeface="Segoe UI"/>
              </a:rPr>
              <a:t>▸  </a:t>
            </a:r>
            <a:r>
              <a:rPr sz="1500">
                <a:solidFill>
                  <a:srgbClr val="3A2410"/>
                </a:solidFill>
                <a:latin typeface="Segoe UI"/>
              </a:rPr>
              <a:t>State-wide rollout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B2A66"/>
                </a:solidFill>
                <a:latin typeface="Segoe UI"/>
              </a:rPr>
              <a:t>▸  </a:t>
            </a:r>
            <a:r>
              <a:rPr sz="1500">
                <a:solidFill>
                  <a:srgbClr val="3A2410"/>
                </a:solidFill>
                <a:latin typeface="Segoe UI"/>
              </a:rPr>
              <a:t>WCAG compliance dashboard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B2A66"/>
                </a:solidFill>
                <a:latin typeface="Segoe UI"/>
              </a:rPr>
              <a:t>▸  </a:t>
            </a:r>
            <a:r>
              <a:rPr sz="1500">
                <a:solidFill>
                  <a:srgbClr val="3A2410"/>
                </a:solidFill>
                <a:latin typeface="Segoe UI"/>
              </a:rPr>
              <a:t>Developer SDKs &amp; marketplace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B2A66"/>
                </a:solidFill>
                <a:latin typeface="Segoe UI"/>
              </a:rPr>
              <a:t>▸  </a:t>
            </a:r>
            <a:r>
              <a:rPr sz="1500">
                <a:solidFill>
                  <a:srgbClr val="3A2410"/>
                </a:solidFill>
                <a:latin typeface="Segoe UI"/>
              </a:rPr>
              <a:t>Certification programme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3DA"/>
                </a:solidFill>
                <a:latin typeface="Segoe UI"/>
              </a:rPr>
              <a:t>The Ask</a:t>
            </a:r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18872"/>
            <a:ext cx="676656" cy="676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46304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8D1B2F"/>
          </a:solidFill>
          <a:ln>
            <a:noFill/>
          </a:ln>
          <a:effectLst/>
          <a:effectLst>
            <a:outerShdw blurRad="90000" dist="40000" dir="5400000" rotWithShape="0">
              <a:srgbClr val="6E1322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6070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3DA"/>
                </a:solidFill>
                <a:latin typeface="Segoe UI"/>
              </a:rPr>
              <a:t>Give us one department's website - we'll make it usable by every citizen.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04241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900" b="1">
                <a:solidFill>
                  <a:srgbClr val="3A2410"/>
                </a:solidFill>
                <a:latin typeface="Segoe UI"/>
              </a:rPr>
              <a:t>A pilot:  </a:t>
            </a:r>
            <a:r>
              <a:rPr sz="1900">
                <a:solidFill>
                  <a:srgbClr val="3A2410"/>
                </a:solidFill>
                <a:latin typeface="Segoe UI"/>
              </a:rPr>
              <a:t>one Odisha government department or university portal to deploy on.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900" b="1">
                <a:solidFill>
                  <a:srgbClr val="3A2410"/>
                </a:solidFill>
                <a:latin typeface="Segoe UI"/>
              </a:rPr>
              <a:t>Access &amp; mentorship:  </a:t>
            </a:r>
            <a:r>
              <a:rPr sz="1900">
                <a:solidFill>
                  <a:srgbClr val="3A2410"/>
                </a:solidFill>
                <a:latin typeface="Segoe UI"/>
              </a:rPr>
              <a:t>real portals to test against, and guidance to harden for production.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 b="1">
                <a:solidFill>
                  <a:srgbClr val="EF7D16"/>
                </a:solidFill>
                <a:latin typeface="Segoe UI"/>
              </a:rPr>
              <a:t>▸  </a:t>
            </a:r>
            <a:r>
              <a:rPr sz="1900" b="1">
                <a:solidFill>
                  <a:srgbClr val="3A2410"/>
                </a:solidFill>
                <a:latin typeface="Segoe UI"/>
              </a:rPr>
              <a:t>Support to scale:  </a:t>
            </a:r>
            <a:r>
              <a:rPr sz="1900">
                <a:solidFill>
                  <a:srgbClr val="3A2410"/>
                </a:solidFill>
                <a:latin typeface="Segoe UI"/>
              </a:rPr>
              <a:t>security hardening and infrastructure for a state-wide rollout.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Team SUBARNAREKHA  ·  Smart Odisha Hackathon '25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5566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7A5A38"/>
                </a:solidFill>
                <a:latin typeface="Segoe U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6B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kra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868680"/>
            <a:ext cx="2194560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FFF3DA"/>
                </a:solidFill>
                <a:latin typeface="Segoe UI"/>
              </a:rPr>
              <a:t>Thank you</a:t>
            </a:r>
          </a:p>
        </p:txBody>
      </p:sp>
      <p:pic>
        <p:nvPicPr>
          <p:cNvPr id="8" name="Picture 7" descr="odia_s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647" y="4114800"/>
            <a:ext cx="45720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47091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E6B93F"/>
                </a:solidFill>
                <a:latin typeface="Segoe UI"/>
              </a:rPr>
              <a:t>Accessibility as a Service  ·  Team SUBARNAREKHA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FF7E9"/>
                </a:solidFill>
                <a:latin typeface="Segoe UI"/>
              </a:rPr>
              <a:t>Smart Odisha Hackathon '25  ·  Accessibility for every citizen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