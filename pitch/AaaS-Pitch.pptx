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Namaskar. We are Team SUBARNAREKHA. AaaS is open-source accessibility infrastructure - shared rails that make any public website usable by every citizen, in their own language, including the blind, deaf, and dyslexic. One line for institutions; one extension for citizens.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exclusions - sight, language, hearing - plus no shared solution. The deaf/ISL line sets up our flagship later. Overlays are English band-aids.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faces, including the deaf citizen - foreshadows the sign-language avatar. Land on scale: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platform, not a point tool. Three pillars + the open-source ribbon: we stand on open Indian/global AI, and the platform itself is open and self-hostable.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pre-empts the overlay question. Overlays are site-owner-only; our extension gives a citizen-controlled path that reaches sites that will never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right. The gateway is the product: secure, multi-tenant, metered. Same engines run server-side OR on-device. Admin dashboard gives departments WCAG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everyday actions, each a tiny pipeline. The heavy AI runs on the user's device - no backend, privacy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utility concrete - one citizen, one journey, touching all four powers (read, translate, voice, sign). The closing line is the payoff: zero dependence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real screenshot, not a mockup. Wikipedia is a deliberately hard target (strict CSP). If it works here, it works on government portals. Offer to demo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wow + heart slide. Be honest: it's in development - the flagship next step. ISL is the deaf community's first language; building on ISLRTC's official dictionary makes it credible and India-specific. No competitor does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DPI framing govt judges love - reusable public rails, like UPI. Open-source means auditable (security), sovereign (no foreign lock-in), and community-extensible (more languages and signs). It also lets the state own its accessibility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Maps directly to the problem statement's modules - we built the whole platform, with admin oversight and WCAG logging as differentiators.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technical judges. Headline win: on-device inference - privacy, offline, resilience, auditability and cost all at once. Everything sits on open models + an open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the hard question head-on. Overlays: site-owner, English, cloud, proprietary, over-claim compliance. We: user-controlled, Indian-language, on-device, open-source,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Procurement language: compliance, sovereignty, open-source/no-lock-in, cost, and reach. Open-source is the clincher - government can audit and own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outcomes to flagship missions - now including DPI. Signals policy alignment,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Momentum + credible path. Working MVP today; the sign-language avatar is the headline next milestone; long term is shared state DPI with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concrete and small enough to say yes to: one pilot. Confidence line - hand us one site and we'll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warm and confident: open-source accessibility for every citizen, in their own language, on any site - and soon, in sign language. Invite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301752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28016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000" b="1" i="0">
                <a:solidFill>
                  <a:srgbClr val="FFF3DA"/>
                </a:solidFill>
                <a:latin typeface="Segoe UI"/>
              </a:rPr>
              <a:t>Accessibility as a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3087" y="221284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E6B93F"/>
                </a:solidFill>
                <a:latin typeface="Segoe UI"/>
              </a:rPr>
              <a:t>(AaaS)</a:t>
            </a:r>
          </a:p>
        </p:txBody>
      </p:sp>
      <p:pic>
        <p:nvPicPr>
          <p:cNvPr id="9" name="Picture 8" descr="odia_s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087" y="2761488"/>
            <a:ext cx="5303520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33087" y="3401568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0" i="0">
                <a:solidFill>
                  <a:srgbClr val="FFF7E9"/>
                </a:solidFill>
                <a:latin typeface="Segoe UI"/>
              </a:rPr>
              <a:t>Shared accessibility infrastructure for public institutions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4041648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4041648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6E1322"/>
                </a:solidFill>
                <a:latin typeface="Segoe UI"/>
              </a:rPr>
              <a:t>Open-source · Digital Public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70916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Segoe UI"/>
              </a:rPr>
              <a:t>Team SUBARNAREKHA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E6B93F"/>
                </a:solidFill>
                <a:latin typeface="Segoe UI"/>
              </a:rPr>
              <a:t>Smart Odisha Hackathon '25  ·  Software · Odiapreneur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The Problem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280160"/>
            <a:ext cx="109728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800" b="1">
                <a:solidFill>
                  <a:srgbClr val="3A2410"/>
                </a:solidFill>
                <a:latin typeface="Segoe UI"/>
              </a:rPr>
              <a:t>26.8M+ Indians live with a disability  </a:t>
            </a:r>
            <a:r>
              <a:rPr sz="1800">
                <a:solidFill>
                  <a:srgbClr val="3A2410"/>
                </a:solidFill>
                <a:latin typeface="Segoe UI"/>
              </a:rPr>
              <a:t>(Census 2011) - most government &amp; education sites are unusable with a screen reader.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800" b="1">
                <a:solidFill>
                  <a:srgbClr val="3A2410"/>
                </a:solidFill>
                <a:latin typeface="Segoe UI"/>
              </a:rPr>
              <a:t>The web is English-first.  </a:t>
            </a:r>
            <a:r>
              <a:rPr sz="1800">
                <a:solidFill>
                  <a:srgbClr val="3A2410"/>
                </a:solidFill>
                <a:latin typeface="Segoe UI"/>
              </a:rPr>
              <a:t>Only ~1 in 10 Indians reads English comfortably - Odia-only citizens are shut out.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800" b="1">
                <a:solidFill>
                  <a:srgbClr val="3A2410"/>
                </a:solidFill>
                <a:latin typeface="Segoe UI"/>
              </a:rPr>
              <a:t>Deaf citizens are invisible online.  </a:t>
            </a:r>
            <a:r>
              <a:rPr sz="1800">
                <a:solidFill>
                  <a:srgbClr val="3A2410"/>
                </a:solidFill>
                <a:latin typeface="Segoe UI"/>
              </a:rPr>
              <a:t>Indian Sign Language is their first language, yet there is almost no public content in it.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800" b="1">
                <a:solidFill>
                  <a:srgbClr val="3A2410"/>
                </a:solidFill>
                <a:latin typeface="Segoe UI"/>
              </a:rPr>
              <a:t>Today's "fix" is an overlay sold to site owners.  </a:t>
            </a:r>
            <a:r>
              <a:rPr sz="1800">
                <a:solidFill>
                  <a:srgbClr val="3A2410"/>
                </a:solidFill>
                <a:latin typeface="Segoe UI"/>
              </a:rPr>
              <a:t>English-centric, works only where installed, criticised for not fixing real access.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800" b="1">
                <a:solidFill>
                  <a:srgbClr val="3A2410"/>
                </a:solidFill>
                <a:latin typeface="Segoe UI"/>
              </a:rPr>
              <a:t>Every department reinvents accessibility.  </a:t>
            </a:r>
            <a:r>
              <a:rPr sz="1800">
                <a:solidFill>
                  <a:srgbClr val="3A2410"/>
                </a:solidFill>
                <a:latin typeface="Segoe UI"/>
              </a:rPr>
              <a:t>Slow, costly, inconsistent - and rarely WCAG / GIGW compliant.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43600"/>
            <a:ext cx="10972800" cy="18288"/>
          </a:xfrm>
          <a:prstGeom prst="rect">
            <a:avLst/>
          </a:prstGeom>
          <a:solidFill>
            <a:srgbClr val="C99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 i="1">
                <a:solidFill>
                  <a:srgbClr val="8D1B2F"/>
                </a:solidFill>
                <a:latin typeface="Segoe UI"/>
              </a:rPr>
              <a:t>If you cannot see the screen, cannot read English, or cannot hear - public services are closed to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Who gets left behind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417320"/>
            <a:ext cx="2560320" cy="4114800"/>
          </a:xfrm>
          <a:prstGeom prst="roundRect">
            <a:avLst>
              <a:gd name="adj" fmla="val 6000"/>
            </a:avLst>
          </a:prstGeom>
          <a:solidFill>
            <a:srgbClr val="FDECD4"/>
          </a:solidFill>
          <a:ln w="25400">
            <a:solidFill>
              <a:srgbClr val="8D1B2F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2560320" cy="594360"/>
          </a:xfrm>
          <a:prstGeom prst="roundRect">
            <a:avLst>
              <a:gd name="adj" fmla="val 20000"/>
            </a:avLst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2560320" cy="27432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4173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FFF3DA"/>
                </a:solidFill>
                <a:latin typeface="Segoe UI"/>
              </a:rPr>
              <a:t>The blind citizen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240280"/>
            <a:ext cx="215798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A scholarship form they literally cannot read - no audio, no screen reader.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287" y="1417320"/>
            <a:ext cx="2560320" cy="4114800"/>
          </a:xfrm>
          <a:prstGeom prst="roundRect">
            <a:avLst>
              <a:gd name="adj" fmla="val 6000"/>
            </a:avLst>
          </a:prstGeom>
          <a:solidFill>
            <a:srgbClr val="E4F4E9"/>
          </a:solidFill>
          <a:ln w="25400">
            <a:solidFill>
              <a:srgbClr val="1A7A3C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47287" y="1417320"/>
            <a:ext cx="2560320" cy="594360"/>
          </a:xfrm>
          <a:prstGeom prst="roundRect">
            <a:avLst>
              <a:gd name="adj" fmla="val 20000"/>
            </a:avLst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7" y="1737360"/>
            <a:ext cx="2560320" cy="274320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7" y="14173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FFF3DA"/>
                </a:solidFill>
                <a:latin typeface="Segoe UI"/>
              </a:rPr>
              <a:t>The Odia speaker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2240280"/>
            <a:ext cx="215798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Fluent in Odia, facing an English-only portal with no translation.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417320"/>
            <a:ext cx="2560320" cy="4114800"/>
          </a:xfrm>
          <a:prstGeom prst="roundRect">
            <a:avLst>
              <a:gd name="adj" fmla="val 6000"/>
            </a:avLst>
          </a:prstGeom>
          <a:solidFill>
            <a:srgbClr val="E9ECFB"/>
          </a:solidFill>
          <a:ln w="25400">
            <a:solidFill>
              <a:srgbClr val="1B2A6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1417320"/>
            <a:ext cx="2560320" cy="594360"/>
          </a:xfrm>
          <a:prstGeom prst="roundRect">
            <a:avLst>
              <a:gd name="adj" fmla="val 20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1737360"/>
            <a:ext cx="2560320" cy="274320"/>
          </a:xfrm>
          <a:prstGeom prst="rect">
            <a:avLst/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14173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FFF3DA"/>
                </a:solidFill>
                <a:latin typeface="Segoe UI"/>
              </a:rPr>
              <a:t>The exam candidate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240280"/>
            <a:ext cx="215798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Dyslexia, in an online test - no audio, no extra time, no friendly fonts.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1703" y="1417320"/>
            <a:ext cx="2560320" cy="4114800"/>
          </a:xfrm>
          <a:prstGeom prst="roundRect">
            <a:avLst>
              <a:gd name="adj" fmla="val 6000"/>
            </a:avLst>
          </a:prstGeom>
          <a:solidFill>
            <a:srgbClr val="FDECD4"/>
          </a:solidFill>
          <a:ln w="25400">
            <a:solidFill>
              <a:srgbClr val="6E1322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1703" y="1417320"/>
            <a:ext cx="2560320" cy="594360"/>
          </a:xfrm>
          <a:prstGeom prst="roundRect">
            <a:avLst>
              <a:gd name="adj" fmla="val 20000"/>
            </a:avLst>
          </a:prstGeom>
          <a:solidFill>
            <a:srgbClr val="6E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3" y="1737360"/>
            <a:ext cx="2560320" cy="274320"/>
          </a:xfrm>
          <a:prstGeom prst="rect">
            <a:avLst/>
          </a:prstGeom>
          <a:solidFill>
            <a:srgbClr val="6E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98863" y="14173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FFF3DA"/>
                </a:solidFill>
                <a:latin typeface="Segoe UI"/>
              </a:rPr>
              <a:t>The deaf citizen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2240280"/>
            <a:ext cx="2157984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Misses every notice - nothing is offered in Indian Sign Language.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1">
                <a:solidFill>
                  <a:srgbClr val="8D1B2F"/>
                </a:solidFill>
                <a:latin typeface="Segoe UI"/>
              </a:rPr>
              <a:t>Not edge cases - millions of citizens public services are meant to serve.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Our Solution: one shared platform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280160"/>
            <a:ext cx="10972800" cy="960120"/>
          </a:xfrm>
          <a:prstGeom prst="roundRect">
            <a:avLst>
              <a:gd name="adj" fmla="val 12000"/>
            </a:avLst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F3DA"/>
                </a:solidFill>
                <a:latin typeface="Segoe UI"/>
              </a:rPr>
              <a:t>Institutions plug in ONCE; citizens get accessibility EVERYWHERE.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23160"/>
            <a:ext cx="3611880" cy="2971800"/>
          </a:xfrm>
          <a:prstGeom prst="roundRect">
            <a:avLst>
              <a:gd name="adj" fmla="val 7000"/>
            </a:avLst>
          </a:prstGeom>
          <a:solidFill>
            <a:srgbClr val="FDECD4"/>
          </a:solidFill>
          <a:ln w="25400">
            <a:solidFill>
              <a:srgbClr val="EF7D1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606040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EF7D16"/>
                </a:solidFill>
                <a:latin typeface="Segoe UI"/>
              </a:rPr>
              <a:t>API + Widget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3099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A5A38"/>
                </a:solidFill>
                <a:latin typeface="Segoe UI"/>
              </a:rPr>
              <a:t>INTEGRATE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611880"/>
            <a:ext cx="30998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0" i="0">
                <a:solidFill>
                  <a:srgbClr val="3A2410"/>
                </a:solidFill>
                <a:latin typeface="Segoe UI"/>
              </a:rPr>
              <a:t>One &lt;script&gt; line or a REST API turns any site accessible.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423160"/>
            <a:ext cx="3611880" cy="2971800"/>
          </a:xfrm>
          <a:prstGeom prst="roundRect">
            <a:avLst>
              <a:gd name="adj" fmla="val 7000"/>
            </a:avLst>
          </a:prstGeom>
          <a:solidFill>
            <a:srgbClr val="E4F4E9"/>
          </a:solidFill>
          <a:ln w="25400">
            <a:solidFill>
              <a:srgbClr val="1A7A3C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2606040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1A7A3C"/>
                </a:solidFill>
                <a:latin typeface="Segoe UI"/>
              </a:rPr>
              <a:t>Browser Extension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154680"/>
            <a:ext cx="3099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A5A38"/>
                </a:solidFill>
                <a:latin typeface="Segoe UI"/>
              </a:rPr>
              <a:t>WORKS ON ANY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611880"/>
            <a:ext cx="30998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0" i="0">
                <a:solidFill>
                  <a:srgbClr val="3A2410"/>
                </a:solidFill>
                <a:latin typeface="Segoe UI"/>
              </a:rPr>
              <a:t>Citizens install once - accessibility on every website, no site cooperation.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423160"/>
            <a:ext cx="3611880" cy="2971800"/>
          </a:xfrm>
          <a:prstGeom prst="roundRect">
            <a:avLst>
              <a:gd name="adj" fmla="val 7000"/>
            </a:avLst>
          </a:prstGeom>
          <a:solidFill>
            <a:srgbClr val="E9ECFB"/>
          </a:solidFill>
          <a:ln w="25400">
            <a:solidFill>
              <a:srgbClr val="1B2A6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2606040"/>
            <a:ext cx="30998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1B2A66"/>
                </a:solidFill>
                <a:latin typeface="Segoe UI"/>
              </a:rPr>
              <a:t>On-device Indian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3154680"/>
            <a:ext cx="3099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A5A38"/>
                </a:solidFill>
                <a:latin typeface="Segoe UI"/>
              </a:rPr>
              <a:t>PRIVATE &amp;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1" y="3611880"/>
            <a:ext cx="3099816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0" i="0">
                <a:solidFill>
                  <a:srgbClr val="3A2410"/>
                </a:solidFill>
                <a:latin typeface="Segoe UI"/>
              </a:rPr>
              <a:t>Neural Odia/Hindi/English voice &amp; translation run in the browser.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623560"/>
            <a:ext cx="10972800" cy="713232"/>
          </a:xfrm>
          <a:prstGeom prst="roundRect">
            <a:avLst>
              <a:gd name="adj" fmla="val 30000"/>
            </a:avLst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23560"/>
            <a:ext cx="10972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E1322"/>
                </a:solidFill>
                <a:latin typeface="Segoe UI"/>
              </a:rPr>
              <a:t>Open-source · built on open AI (Meta MMS · Whisper · AI4Bharat) · no vendor lock-in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Two ways in - the same powers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41732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E9ECFB"/>
          </a:solidFill>
          <a:ln w="25400">
            <a:solidFill>
              <a:srgbClr val="1B2A6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394960" cy="685800"/>
          </a:xfrm>
          <a:prstGeom prst="roundRect">
            <a:avLst>
              <a:gd name="adj" fmla="val 16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394960" cy="320040"/>
          </a:xfrm>
          <a:prstGeom prst="rect">
            <a:avLst/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17320"/>
            <a:ext cx="4846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FFF3DA"/>
                </a:solidFill>
                <a:latin typeface="Segoe UI"/>
              </a:rPr>
              <a:t>Institutions integrate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31720"/>
            <a:ext cx="484632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2A66"/>
                </a:solidFill>
                <a:latin typeface="Segoe UI"/>
              </a:rPr>
              <a:t>▸  </a:t>
            </a:r>
            <a:r>
              <a:rPr sz="1500">
                <a:solidFill>
                  <a:srgbClr val="3A2410"/>
                </a:solidFill>
                <a:latin typeface="Segoe UI"/>
              </a:rPr>
              <a:t>Add one widget &lt;script&gt; line, or call the REST API.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2A66"/>
                </a:solidFill>
                <a:latin typeface="Segoe UI"/>
              </a:rPr>
              <a:t>▸  </a:t>
            </a:r>
            <a:r>
              <a:rPr sz="1500">
                <a:solidFill>
                  <a:srgbClr val="3A2410"/>
                </a:solidFill>
                <a:latin typeface="Segoe UI"/>
              </a:rPr>
              <a:t>Site gains read-aloud, translation and voice-to-fill forms.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B2A66"/>
                </a:solidFill>
                <a:latin typeface="Segoe UI"/>
              </a:rPr>
              <a:t>▸  </a:t>
            </a:r>
            <a:r>
              <a:rPr sz="1500">
                <a:solidFill>
                  <a:srgbClr val="3A2410"/>
                </a:solidFill>
                <a:latin typeface="Segoe UI"/>
              </a:rPr>
              <a:t>Central control: API keys, usage metering, WCAG logging.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1732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E4F4E9"/>
          </a:solidFill>
          <a:ln w="25400">
            <a:solidFill>
              <a:srgbClr val="1A7A3C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394960" cy="685800"/>
          </a:xfrm>
          <a:prstGeom prst="roundRect">
            <a:avLst>
              <a:gd name="adj" fmla="val 16000"/>
            </a:avLst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783080"/>
            <a:ext cx="5394960" cy="320040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417320"/>
            <a:ext cx="4846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FFF3DA"/>
                </a:solidFill>
                <a:latin typeface="Segoe UI"/>
              </a:rPr>
              <a:t>Citizens install the extension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331720"/>
            <a:ext cx="484632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7A3C"/>
                </a:solidFill>
                <a:latin typeface="Segoe UI"/>
              </a:rPr>
              <a:t>▸  </a:t>
            </a:r>
            <a:r>
              <a:rPr sz="1500">
                <a:solidFill>
                  <a:srgbClr val="3A2410"/>
                </a:solidFill>
                <a:latin typeface="Segoe UI"/>
              </a:rPr>
              <a:t>One-time install in Chrome / Edge.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7A3C"/>
                </a:solidFill>
                <a:latin typeface="Segoe UI"/>
              </a:rPr>
              <a:t>▸  </a:t>
            </a:r>
            <a:r>
              <a:rPr sz="1500">
                <a:solidFill>
                  <a:srgbClr val="3A2410"/>
                </a:solidFill>
                <a:latin typeface="Segoe UI"/>
              </a:rPr>
              <a:t>Accessibility on ANY website - including legacy portals that will never be updated.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7A3C"/>
                </a:solidFill>
                <a:latin typeface="Segoe UI"/>
              </a:rPr>
              <a:t>▸  </a:t>
            </a:r>
            <a:r>
              <a:rPr sz="1500">
                <a:solidFill>
                  <a:srgbClr val="3A2410"/>
                </a:solidFill>
                <a:latin typeface="Segoe UI"/>
              </a:rPr>
              <a:t>Runs on-device: offline and even on strict-CSP sites.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72800" cy="640080"/>
          </a:xfrm>
          <a:prstGeom prst="roundRect">
            <a:avLst>
              <a:gd name="adj" fmla="val 50000"/>
            </a:avLst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E1322"/>
                </a:solidFill>
                <a:latin typeface="Segoe UI"/>
              </a:rPr>
              <a:t>Power with the user - not just the site owner.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Core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576072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6B93F"/>
                </a:solidFill>
                <a:latin typeface="Segoe UI"/>
              </a:rPr>
              <a:t>two ways in -&gt; one API gateway -&gt; shared engines (also run on-device)</a:t>
            </a:r>
          </a:p>
        </p:txBody>
      </p:sp>
      <p:pic>
        <p:nvPicPr>
          <p:cNvPr id="7" name="Picture 6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3716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D1B2F"/>
                </a:solidFill>
                <a:latin typeface="Segoe UI"/>
              </a:rPr>
              <a:t>CLIENTS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13716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D1B2F"/>
                </a:solidFill>
                <a:latin typeface="Segoe UI"/>
              </a:rPr>
              <a:t>API 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13716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D1B2F"/>
                </a:solidFill>
                <a:latin typeface="Segoe UI"/>
              </a:rPr>
              <a:t>ENGINES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83080"/>
            <a:ext cx="2697480" cy="1234440"/>
          </a:xfrm>
          <a:prstGeom prst="roundRect">
            <a:avLst>
              <a:gd name="adj" fmla="val 12000"/>
            </a:avLst>
          </a:prstGeom>
          <a:solidFill>
            <a:srgbClr val="FDECD4"/>
          </a:solidFill>
          <a:ln w="22225">
            <a:solidFill>
              <a:srgbClr val="EF7D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783080"/>
            <a:ext cx="2478024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3A2410"/>
                </a:solidFill>
                <a:latin typeface="Segoe UI"/>
              </a:rPr>
              <a:t>Institution site / app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1100">
                <a:solidFill>
                  <a:srgbClr val="7A5A38"/>
                </a:solidFill>
                <a:latin typeface="Segoe UI"/>
              </a:rPr>
              <a:t>widget (1 line) + REST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2697480" cy="1234440"/>
          </a:xfrm>
          <a:prstGeom prst="roundRect">
            <a:avLst>
              <a:gd name="adj" fmla="val 12000"/>
            </a:avLst>
          </a:prstGeom>
          <a:solidFill>
            <a:srgbClr val="FDECD4"/>
          </a:solidFill>
          <a:ln w="22225">
            <a:solidFill>
              <a:srgbClr val="EF7D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246120"/>
            <a:ext cx="2478024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3A2410"/>
                </a:solidFill>
                <a:latin typeface="Segoe UI"/>
              </a:rPr>
              <a:t>Browser extension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1100">
                <a:solidFill>
                  <a:srgbClr val="7A5A38"/>
                </a:solidFill>
                <a:latin typeface="Segoe UI"/>
              </a:rPr>
              <a:t>any website, on-device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1783080"/>
            <a:ext cx="3703320" cy="2697480"/>
          </a:xfrm>
          <a:prstGeom prst="roundRect">
            <a:avLst>
              <a:gd name="adj" fmla="val 5000"/>
            </a:avLst>
          </a:prstGeom>
          <a:solidFill>
            <a:srgbClr val="8D1B2F"/>
          </a:solidFill>
          <a:ln w="25400">
            <a:solidFill>
              <a:srgbClr val="E6B93F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187451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FFF3DA"/>
                </a:solidFill>
                <a:latin typeface="Segoe UI"/>
              </a:rPr>
              <a:t>Accessibility API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228600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6B93F"/>
                </a:solidFill>
                <a:latin typeface="Segoe UI"/>
              </a:rPr>
              <a:t>X-API-Key · multi-tenant · CORS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26974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F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26974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E1322"/>
                </a:solidFill>
                <a:latin typeface="Consolas"/>
              </a:rPr>
              <a:t>POST /tts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26974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F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26974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E1322"/>
                </a:solidFill>
                <a:latin typeface="Consolas"/>
              </a:rPr>
              <a:t>POST /stt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31546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F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31546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E1322"/>
                </a:solidFill>
                <a:latin typeface="Consolas"/>
              </a:rPr>
              <a:t>POST /translate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97880" y="31546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F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31546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E1322"/>
                </a:solidFill>
                <a:latin typeface="Consolas"/>
              </a:rPr>
              <a:t>GET /widget.js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70332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6B93F"/>
                </a:solidFill>
                <a:latin typeface="Segoe UI"/>
              </a:rPr>
              <a:t>usage metering · rate limiting · WCAG logging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77639" y="4617720"/>
            <a:ext cx="3703320" cy="868680"/>
          </a:xfrm>
          <a:prstGeom prst="roundRect">
            <a:avLst>
              <a:gd name="adj" fmla="val 12000"/>
            </a:avLst>
          </a:prstGeom>
          <a:solidFill>
            <a:srgbClr val="1B2A66"/>
          </a:solidFill>
          <a:ln w="22225">
            <a:solidFill>
              <a:srgbClr val="E6B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87368" y="4617720"/>
            <a:ext cx="3483863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3DA"/>
                </a:solidFill>
                <a:latin typeface="Segoe UI"/>
              </a:rPr>
              <a:t>Admin Dashboard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1100">
                <a:solidFill>
                  <a:srgbClr val="BCD0FF"/>
                </a:solidFill>
                <a:latin typeface="Segoe UI"/>
              </a:rPr>
              <a:t>tenants · API keys · usage · WCAG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3977639" y="4526280"/>
            <a:ext cx="1847089" cy="91440"/>
          </a:xfrm>
          <a:prstGeom prst="bentConnector3">
            <a:avLst/>
          </a:prstGeom>
          <a:ln w="2540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75320" y="1783080"/>
            <a:ext cx="3246120" cy="777240"/>
          </a:xfrm>
          <a:prstGeom prst="roundRect">
            <a:avLst>
              <a:gd name="adj" fmla="val 12000"/>
            </a:avLst>
          </a:prstGeom>
          <a:solidFill>
            <a:srgbClr val="E9ECFB"/>
          </a:solidFill>
          <a:ln w="22225">
            <a:solidFill>
              <a:srgbClr val="1B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5048" y="1783080"/>
            <a:ext cx="302666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A2410"/>
                </a:solidFill>
                <a:latin typeface="Segoe UI"/>
              </a:rPr>
              <a:t>Text-to-Speech + Screen Reader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1100">
                <a:solidFill>
                  <a:srgbClr val="7A5A38"/>
                </a:solidFill>
                <a:latin typeface="Segoe UI"/>
              </a:rPr>
              <a:t>Meta MMS-TTS · Odia/Hindi/English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2724912"/>
            <a:ext cx="3246120" cy="777240"/>
          </a:xfrm>
          <a:prstGeom prst="roundRect">
            <a:avLst>
              <a:gd name="adj" fmla="val 12000"/>
            </a:avLst>
          </a:prstGeom>
          <a:solidFill>
            <a:srgbClr val="FDECD4"/>
          </a:solidFill>
          <a:ln w="22225">
            <a:solidFill>
              <a:srgbClr val="EF7D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2724912"/>
            <a:ext cx="302666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A2410"/>
                </a:solidFill>
                <a:latin typeface="Segoe UI"/>
              </a:rPr>
              <a:t>Speech-to-Text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1100">
                <a:solidFill>
                  <a:srgbClr val="7A5A38"/>
                </a:solidFill>
                <a:latin typeface="Segoe UI"/>
              </a:rPr>
              <a:t>Whisper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75320" y="3666744"/>
            <a:ext cx="3246120" cy="777240"/>
          </a:xfrm>
          <a:prstGeom prst="roundRect">
            <a:avLst>
              <a:gd name="adj" fmla="val 12000"/>
            </a:avLst>
          </a:prstGeom>
          <a:solidFill>
            <a:srgbClr val="E4F4E9"/>
          </a:solidFill>
          <a:ln w="22225">
            <a:solidFill>
              <a:srgbClr val="1A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5048" y="3666744"/>
            <a:ext cx="3026663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A2410"/>
                </a:solidFill>
                <a:latin typeface="Segoe UI"/>
              </a:rPr>
              <a:t>Translation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1100">
                <a:solidFill>
                  <a:srgbClr val="7A5A38"/>
                </a:solidFill>
                <a:latin typeface="Segoe UI"/>
              </a:rPr>
              <a:t>AI4Bharat IndicTrans2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337560" y="2395728"/>
            <a:ext cx="640079" cy="256032"/>
          </a:xfrm>
          <a:prstGeom prst="bentConnector3">
            <a:avLst/>
          </a:prstGeom>
          <a:ln w="2540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337560" y="3291840"/>
            <a:ext cx="640079" cy="566928"/>
          </a:xfrm>
          <a:prstGeom prst="bentConnector3">
            <a:avLst/>
          </a:prstGeom>
          <a:ln w="2540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680960" y="2176272"/>
            <a:ext cx="594360" cy="292608"/>
          </a:xfrm>
          <a:prstGeom prst="bentConnector3">
            <a:avLst/>
          </a:prstGeom>
          <a:ln w="2540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680960" y="2926080"/>
            <a:ext cx="594360" cy="182880"/>
          </a:xfrm>
          <a:prstGeom prst="bentConnector3">
            <a:avLst/>
          </a:prstGeom>
          <a:ln w="2540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680960" y="3383280"/>
            <a:ext cx="594360" cy="667511"/>
          </a:xfrm>
          <a:prstGeom prst="bentConnector3">
            <a:avLst/>
          </a:prstGeom>
          <a:ln w="2540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 i="1">
                <a:solidFill>
                  <a:srgbClr val="7A5A38"/>
                </a:solidFill>
                <a:latin typeface="Segoe UI"/>
              </a:rPr>
              <a:t>On-device option: the extension runs all three engines in the browser via WebAssembly - offline, even on strict-CSP sites.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How it works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508760"/>
            <a:ext cx="2103120" cy="841248"/>
          </a:xfrm>
          <a:prstGeom prst="roundRect">
            <a:avLst>
              <a:gd name="adj" fmla="val 12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2011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3DA"/>
                </a:solidFill>
                <a:latin typeface="Segoe UI"/>
              </a:rPr>
              <a:t>Read aloud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609344"/>
            <a:ext cx="1908810" cy="640080"/>
          </a:xfrm>
          <a:prstGeom prst="roundRect">
            <a:avLst>
              <a:gd name="adj" fmla="val 12000"/>
            </a:avLst>
          </a:prstGeom>
          <a:solidFill>
            <a:srgbClr val="E9ECFB"/>
          </a:solidFill>
          <a:ln w="19050">
            <a:solidFill>
              <a:srgbClr val="1B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609344"/>
            <a:ext cx="181736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Page text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80610" y="1929384"/>
            <a:ext cx="228600" cy="0"/>
          </a:xfrm>
          <a:prstGeom prst="bentConnector3">
            <a:avLst/>
          </a:prstGeom>
          <a:ln w="22225">
            <a:solidFill>
              <a:srgbClr val="1B2A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09210" y="1609344"/>
            <a:ext cx="1908810" cy="640080"/>
          </a:xfrm>
          <a:prstGeom prst="roundRect">
            <a:avLst>
              <a:gd name="adj" fmla="val 12000"/>
            </a:avLst>
          </a:prstGeom>
          <a:solidFill>
            <a:srgbClr val="E9ECFB"/>
          </a:solidFill>
          <a:ln w="19050">
            <a:solidFill>
              <a:srgbClr val="1B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4930" y="1609344"/>
            <a:ext cx="181736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IndicTrans2 (if needed)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18020" y="1929384"/>
            <a:ext cx="228600" cy="0"/>
          </a:xfrm>
          <a:prstGeom prst="bentConnector3">
            <a:avLst/>
          </a:prstGeom>
          <a:ln w="22225">
            <a:solidFill>
              <a:srgbClr val="1B2A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46620" y="1609344"/>
            <a:ext cx="1908810" cy="640080"/>
          </a:xfrm>
          <a:prstGeom prst="roundRect">
            <a:avLst>
              <a:gd name="adj" fmla="val 12000"/>
            </a:avLst>
          </a:prstGeom>
          <a:solidFill>
            <a:srgbClr val="E9ECFB"/>
          </a:solidFill>
          <a:ln w="19050">
            <a:solidFill>
              <a:srgbClr val="1B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2340" y="1609344"/>
            <a:ext cx="181736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MMS-TTS on-device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55430" y="1929384"/>
            <a:ext cx="228600" cy="0"/>
          </a:xfrm>
          <a:prstGeom prst="bentConnector3">
            <a:avLst/>
          </a:prstGeom>
          <a:ln w="22225">
            <a:solidFill>
              <a:srgbClr val="1B2A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84030" y="1609344"/>
            <a:ext cx="1908810" cy="640080"/>
          </a:xfrm>
          <a:prstGeom prst="roundRect">
            <a:avLst>
              <a:gd name="adj" fmla="val 12000"/>
            </a:avLst>
          </a:prstGeom>
          <a:solidFill>
            <a:srgbClr val="E9ECFB"/>
          </a:solidFill>
          <a:ln w="19050">
            <a:solidFill>
              <a:srgbClr val="1B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29750" y="1609344"/>
            <a:ext cx="181736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Odia voice 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697480"/>
            <a:ext cx="2103120" cy="841248"/>
          </a:xfrm>
          <a:prstGeom prst="roundRect">
            <a:avLst>
              <a:gd name="adj" fmla="val 12000"/>
            </a:avLst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697480"/>
            <a:ext cx="2011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3DA"/>
                </a:solidFill>
                <a:latin typeface="Segoe UI"/>
              </a:rPr>
              <a:t>Translate page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71800" y="2798064"/>
            <a:ext cx="2621280" cy="640080"/>
          </a:xfrm>
          <a:prstGeom prst="roundRect">
            <a:avLst>
              <a:gd name="adj" fmla="val 12000"/>
            </a:avLst>
          </a:prstGeom>
          <a:solidFill>
            <a:srgbClr val="E4F4E9"/>
          </a:solidFill>
          <a:ln w="19050">
            <a:solidFill>
              <a:srgbClr val="1A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17520" y="2798064"/>
            <a:ext cx="2529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Page text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593080" y="3118104"/>
            <a:ext cx="228600" cy="0"/>
          </a:xfrm>
          <a:prstGeom prst="bentConnector3">
            <a:avLst/>
          </a:prstGeom>
          <a:ln w="22225">
            <a:solidFill>
              <a:srgbClr val="1A7A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821680" y="2798064"/>
            <a:ext cx="2621280" cy="640080"/>
          </a:xfrm>
          <a:prstGeom prst="roundRect">
            <a:avLst>
              <a:gd name="adj" fmla="val 12000"/>
            </a:avLst>
          </a:prstGeom>
          <a:solidFill>
            <a:srgbClr val="E4F4E9"/>
          </a:solidFill>
          <a:ln w="19050">
            <a:solidFill>
              <a:srgbClr val="1A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2798064"/>
            <a:ext cx="2529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IndicTrans2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42960" y="3118104"/>
            <a:ext cx="228600" cy="0"/>
          </a:xfrm>
          <a:prstGeom prst="bentConnector3">
            <a:avLst/>
          </a:prstGeom>
          <a:ln w="22225">
            <a:solidFill>
              <a:srgbClr val="1A7A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71560" y="2798064"/>
            <a:ext cx="2621280" cy="640080"/>
          </a:xfrm>
          <a:prstGeom prst="roundRect">
            <a:avLst>
              <a:gd name="adj" fmla="val 12000"/>
            </a:avLst>
          </a:prstGeom>
          <a:solidFill>
            <a:srgbClr val="E4F4E9"/>
          </a:solidFill>
          <a:ln w="19050">
            <a:solidFill>
              <a:srgbClr val="1A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7280" y="2798064"/>
            <a:ext cx="2529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Page rewritten in Odia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886200"/>
            <a:ext cx="2103120" cy="841248"/>
          </a:xfrm>
          <a:prstGeom prst="roundRect">
            <a:avLst>
              <a:gd name="adj" fmla="val 12000"/>
            </a:avLst>
          </a:prstGeom>
          <a:solidFill>
            <a:srgbClr val="EF7D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886200"/>
            <a:ext cx="20116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3DA"/>
                </a:solidFill>
                <a:latin typeface="Segoe UI"/>
              </a:rPr>
              <a:t>Speak to fill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71800" y="3986784"/>
            <a:ext cx="2621280" cy="640080"/>
          </a:xfrm>
          <a:prstGeom prst="roundRect">
            <a:avLst>
              <a:gd name="adj" fmla="val 12000"/>
            </a:avLst>
          </a:prstGeom>
          <a:solidFill>
            <a:srgbClr val="FDECD4"/>
          </a:solidFill>
          <a:ln w="19050">
            <a:solidFill>
              <a:srgbClr val="EF7D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986784"/>
            <a:ext cx="2529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Voice (mic)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593080" y="4306824"/>
            <a:ext cx="228600" cy="0"/>
          </a:xfrm>
          <a:prstGeom prst="bentConnector3">
            <a:avLst/>
          </a:prstGeom>
          <a:ln w="22225">
            <a:solidFill>
              <a:srgbClr val="EF7D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21680" y="3986784"/>
            <a:ext cx="2621280" cy="640080"/>
          </a:xfrm>
          <a:prstGeom prst="roundRect">
            <a:avLst>
              <a:gd name="adj" fmla="val 12000"/>
            </a:avLst>
          </a:prstGeom>
          <a:solidFill>
            <a:srgbClr val="FDECD4"/>
          </a:solidFill>
          <a:ln w="19050">
            <a:solidFill>
              <a:srgbClr val="EF7D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67400" y="3986784"/>
            <a:ext cx="2529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Whisper on-device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42960" y="4306824"/>
            <a:ext cx="228600" cy="0"/>
          </a:xfrm>
          <a:prstGeom prst="bentConnector3">
            <a:avLst/>
          </a:prstGeom>
          <a:ln w="22225">
            <a:solidFill>
              <a:srgbClr val="EF7D1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671560" y="3986784"/>
            <a:ext cx="2621280" cy="640080"/>
          </a:xfrm>
          <a:prstGeom prst="roundRect">
            <a:avLst>
              <a:gd name="adj" fmla="val 12000"/>
            </a:avLst>
          </a:prstGeom>
          <a:solidFill>
            <a:srgbClr val="FDECD4"/>
          </a:solidFill>
          <a:ln w="19050">
            <a:solidFill>
              <a:srgbClr val="EF7D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17280" y="3986784"/>
            <a:ext cx="2529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3A2410"/>
                </a:solidFill>
                <a:latin typeface="Segoe UI"/>
              </a:rPr>
              <a:t>Form field auto-filled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623560"/>
            <a:ext cx="10972800" cy="749808"/>
          </a:xfrm>
          <a:prstGeom prst="roundRect">
            <a:avLst>
              <a:gd name="adj" fmla="val 20000"/>
            </a:avLst>
          </a:prstGeom>
          <a:solidFill>
            <a:srgbClr val="FDF3DD"/>
          </a:solidFill>
          <a:ln w="15875">
            <a:solidFill>
              <a:srgbClr val="C99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623560"/>
            <a:ext cx="10515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0" i="0">
                <a:solidFill>
                  <a:srgbClr val="7A5A38"/>
                </a:solidFill>
                <a:latin typeface="Segoe UI"/>
              </a:rPr>
              <a:t>"On-device" = runs inside the browser via WebAssembly. No server, fully offline, and translation is skipped when the page is already in your language.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A day with AaaS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576072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6B93F"/>
                </a:solidFill>
                <a:latin typeface="Segoe UI"/>
              </a:rPr>
              <a:t>Sunita applies for a scholarship on an English-only portal</a:t>
            </a:r>
          </a:p>
        </p:txBody>
      </p:sp>
      <p:pic>
        <p:nvPicPr>
          <p:cNvPr id="7" name="Picture 6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15544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F3DA"/>
                </a:solidFill>
                <a:latin typeface="Segoe UI"/>
              </a:rPr>
              <a:t>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144" y="2212848"/>
            <a:ext cx="0" cy="256032"/>
          </a:xfrm>
          <a:prstGeom prst="bentConnector3">
            <a:avLst/>
          </a:prstGeom>
          <a:ln w="3175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783080" y="1591056"/>
            <a:ext cx="9692640" cy="585216"/>
          </a:xfrm>
          <a:prstGeom prst="roundRect">
            <a:avLst>
              <a:gd name="adj" fmla="val 12000"/>
            </a:avLst>
          </a:prstGeom>
          <a:solidFill>
            <a:srgbClr val="FDF3DD"/>
          </a:solidFill>
          <a:ln w="12700">
            <a:solidFill>
              <a:srgbClr val="C99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591056"/>
            <a:ext cx="9235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2410"/>
                </a:solidFill>
                <a:latin typeface="Segoe UI"/>
              </a:rPr>
              <a:t>Opens the portal and taps the AaaS button - no app store, no setup.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4688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F3DA"/>
                </a:solidFill>
                <a:latin typeface="Segoe UI"/>
              </a:rPr>
              <a:t>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127248"/>
            <a:ext cx="0" cy="256032"/>
          </a:xfrm>
          <a:prstGeom prst="bentConnector3">
            <a:avLst/>
          </a:prstGeom>
          <a:ln w="3175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783080" y="2505456"/>
            <a:ext cx="9692640" cy="585216"/>
          </a:xfrm>
          <a:prstGeom prst="roundRect">
            <a:avLst>
              <a:gd name="adj" fmla="val 12000"/>
            </a:avLst>
          </a:prstGeom>
          <a:solidFill>
            <a:srgbClr val="FDF3DD"/>
          </a:solidFill>
          <a:ln w="12700">
            <a:solidFill>
              <a:srgbClr val="C99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2505456"/>
            <a:ext cx="9235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2410"/>
                </a:solidFill>
                <a:latin typeface="Segoe UI"/>
              </a:rPr>
              <a:t>The page reads aloud in Odia; she hovers to hear each field.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3832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F7D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832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F3DA"/>
                </a:solidFill>
                <a:latin typeface="Segoe U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52144" y="4041648"/>
            <a:ext cx="0" cy="256032"/>
          </a:xfrm>
          <a:prstGeom prst="bentConnector3">
            <a:avLst/>
          </a:prstGeom>
          <a:ln w="3175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783080" y="3419856"/>
            <a:ext cx="9692640" cy="585216"/>
          </a:xfrm>
          <a:prstGeom prst="roundRect">
            <a:avLst>
              <a:gd name="adj" fmla="val 12000"/>
            </a:avLst>
          </a:prstGeom>
          <a:solidFill>
            <a:srgbClr val="FDF3DD"/>
          </a:solidFill>
          <a:ln w="12700">
            <a:solidFill>
              <a:srgbClr val="C99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3419856"/>
            <a:ext cx="9235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2410"/>
                </a:solidFill>
                <a:latin typeface="Segoe UI"/>
              </a:rPr>
              <a:t>She fills the form by voice - her speech lands in the right fields.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976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29768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F3DA"/>
                </a:solidFill>
                <a:latin typeface="Segoe UI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783080" y="4334256"/>
            <a:ext cx="9692640" cy="585216"/>
          </a:xfrm>
          <a:prstGeom prst="roundRect">
            <a:avLst>
              <a:gd name="adj" fmla="val 12000"/>
            </a:avLst>
          </a:prstGeom>
          <a:solidFill>
            <a:srgbClr val="FDF3DD"/>
          </a:solidFill>
          <a:ln w="12700">
            <a:solidFill>
              <a:srgbClr val="C99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4334256"/>
            <a:ext cx="92354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2410"/>
                </a:solidFill>
                <a:latin typeface="Segoe UI"/>
              </a:rPr>
              <a:t>Her deaf brother watches the same notice in Indian Sign Language, via the avatar.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532120"/>
            <a:ext cx="10652760" cy="713232"/>
          </a:xfrm>
          <a:prstGeom prst="roundRect">
            <a:avLst>
              <a:gd name="adj" fmla="val 50000"/>
            </a:avLst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532120"/>
            <a:ext cx="106527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FFF3DA"/>
                </a:solidFill>
                <a:latin typeface="Segoe UI"/>
              </a:rPr>
              <a:t>No sighted help. No English. No department changing a single line of code.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It already works - live, on any site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pic>
        <p:nvPicPr>
          <p:cNvPr id="7" name="Picture 6" descr="demo-wikipe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7955279" cy="377875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1325880"/>
            <a:ext cx="7955279" cy="3776472"/>
          </a:xfrm>
          <a:prstGeom prst="rect">
            <a:avLst/>
          </a:prstGeom>
          <a:noFill/>
          <a:ln w="19050">
            <a:solidFill>
              <a:srgbClr val="C99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0" y="1554480"/>
            <a:ext cx="29260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 i="0">
                <a:solidFill>
                  <a:srgbClr val="8D1B2F"/>
                </a:solidFill>
                <a:latin typeface="Segoe UI"/>
              </a:rPr>
              <a:t>English Wikipedia -&gt; Odia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Title and page flip to Odia in place, and the page reads aloud in a neural Odia voice.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1A7A3C"/>
                </a:solidFill>
                <a:latin typeface="Segoe UI"/>
              </a:rPr>
              <a:t>No backend running.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Works despite Wikipedia's strict Content-Security-Policy - translation goes through the extension, the voice runs on-device.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Flagship: Indian Sign Language avatar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371600"/>
            <a:ext cx="4023360" cy="4572000"/>
          </a:xfrm>
          <a:prstGeom prst="roundRect">
            <a:avLst>
              <a:gd name="adj" fmla="val 5000"/>
            </a:avLst>
          </a:prstGeom>
          <a:solidFill>
            <a:srgbClr val="8D1B2F"/>
          </a:solidFill>
          <a:ln>
            <a:noFill/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gnava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828800"/>
            <a:ext cx="2651760" cy="26517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234440" y="4617720"/>
            <a:ext cx="2834640" cy="502920"/>
          </a:xfrm>
          <a:prstGeom prst="roundRect">
            <a:avLst>
              <a:gd name="adj" fmla="val 50000"/>
            </a:avLst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617720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E1322"/>
                </a:solidFill>
                <a:latin typeface="Segoe UI"/>
              </a:rPr>
              <a:t>In development - our north star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1">
                <a:solidFill>
                  <a:srgbClr val="FFF3DA"/>
                </a:solidFill>
                <a:latin typeface="Segoe UI"/>
              </a:rPr>
              <a:t>Turning every notice into sign language - at scale.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554480"/>
            <a:ext cx="6675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00" b="1">
                <a:solidFill>
                  <a:srgbClr val="3A2410"/>
                </a:solidFill>
                <a:latin typeface="Segoe UI"/>
              </a:rPr>
              <a:t>First language, not a translation:  </a:t>
            </a:r>
            <a:r>
              <a:rPr sz="1600">
                <a:solidFill>
                  <a:srgbClr val="3A2410"/>
                </a:solidFill>
                <a:latin typeface="Segoe UI"/>
              </a:rPr>
              <a:t>for millions of deaf Indians, Indian Sign Language (ISL) is primary - yet public services offer almost nothing in it.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00" b="1">
                <a:solidFill>
                  <a:srgbClr val="3A2410"/>
                </a:solidFill>
                <a:latin typeface="Segoe UI"/>
              </a:rPr>
              <a:t>What it does:  </a:t>
            </a:r>
            <a:r>
              <a:rPr sz="1600">
                <a:solidFill>
                  <a:srgbClr val="3A2410"/>
                </a:solidFill>
                <a:latin typeface="Segoe UI"/>
              </a:rPr>
              <a:t>converts on-screen text and announcements into ISL, performed by a 3D avatar - reusing the government's ISLRTC ISL dictionary.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00" b="1">
                <a:solidFill>
                  <a:srgbClr val="3A2410"/>
                </a:solidFill>
                <a:latin typeface="Segoe UI"/>
              </a:rPr>
              <a:t>How:  </a:t>
            </a:r>
            <a:r>
              <a:rPr sz="1600">
                <a:solidFill>
                  <a:srgbClr val="3A2410"/>
                </a:solidFill>
                <a:latin typeface="Segoe UI"/>
              </a:rPr>
              <a:t>text -&gt; ISL gloss -&gt; avatar animation, delivered through the same widget &amp; extension.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6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00" b="1">
                <a:solidFill>
                  <a:srgbClr val="3A2410"/>
                </a:solidFill>
                <a:latin typeface="Segoe UI"/>
              </a:rPr>
              <a:t>Why it's a leap:  </a:t>
            </a:r>
            <a:r>
              <a:rPr sz="1600">
                <a:solidFill>
                  <a:srgbClr val="3A2410"/>
                </a:solidFill>
                <a:latin typeface="Segoe UI"/>
              </a:rPr>
              <a:t>no overlay or mainstream tool offers sign language - this reaches a community everyone else ignores.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Open-source: accessibility as public infrastructure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28016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6070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FFF3DA"/>
                </a:solidFill>
                <a:latin typeface="Segoe UI"/>
              </a:rPr>
              <a:t>Like UPI and DigiLocker - but for accessibility: open rails any institution can build 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2316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E4F4E9"/>
          </a:solidFill>
          <a:ln w="25400">
            <a:solidFill>
              <a:srgbClr val="1A7A3C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423160"/>
            <a:ext cx="2697480" cy="566928"/>
          </a:xfrm>
          <a:prstGeom prst="roundRect">
            <a:avLst>
              <a:gd name="adj" fmla="val 18000"/>
            </a:avLst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80"/>
            <a:ext cx="2697480" cy="292608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423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3DA"/>
                </a:solidFill>
                <a:latin typeface="Segoe UI"/>
              </a:rPr>
              <a:t>Open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154680"/>
            <a:ext cx="229514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Permissive license, auditable code - essential for government security &amp; privacy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242316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DECD4"/>
          </a:solidFill>
          <a:ln w="25400">
            <a:solidFill>
              <a:srgbClr val="EF7D1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56432" y="2423160"/>
            <a:ext cx="2697480" cy="566928"/>
          </a:xfrm>
          <a:prstGeom prst="roundRect">
            <a:avLst>
              <a:gd name="adj" fmla="val 18000"/>
            </a:avLst>
          </a:prstGeom>
          <a:solidFill>
            <a:srgbClr val="EF7D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2697480"/>
            <a:ext cx="2697480" cy="292608"/>
          </a:xfrm>
          <a:prstGeom prst="rect">
            <a:avLst/>
          </a:prstGeom>
          <a:solidFill>
            <a:srgbClr val="EF7D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423160"/>
            <a:ext cx="2423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3DA"/>
                </a:solidFill>
                <a:latin typeface="Segoe UI"/>
              </a:rPr>
              <a:t>Built on open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154680"/>
            <a:ext cx="229514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Meta MMS-TTS, OpenAI Whisper, AI4Bharat IndicTrans2 - no black boxes, no foreign lock-in.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42316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E9ECFB"/>
          </a:solidFill>
          <a:ln w="25400">
            <a:solidFill>
              <a:srgbClr val="1B2A6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2784" y="2423160"/>
            <a:ext cx="2697480" cy="566928"/>
          </a:xfrm>
          <a:prstGeom prst="roundRect">
            <a:avLst>
              <a:gd name="adj" fmla="val 18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2784" y="2697480"/>
            <a:ext cx="2697480" cy="292608"/>
          </a:xfrm>
          <a:prstGeom prst="rect">
            <a:avLst/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423160"/>
            <a:ext cx="2423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3DA"/>
                </a:solidFill>
                <a:latin typeface="Segoe UI"/>
              </a:rPr>
              <a:t>Community-powered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154680"/>
            <a:ext cx="229514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Anyone can add languages, voices and signs - it grows with India.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242316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DECD4"/>
          </a:solidFill>
          <a:ln w="25400">
            <a:solidFill>
              <a:srgbClr val="8D1B2F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89136" y="2423160"/>
            <a:ext cx="2697480" cy="566928"/>
          </a:xfrm>
          <a:prstGeom prst="roundRect">
            <a:avLst>
              <a:gd name="adj" fmla="val 18000"/>
            </a:avLst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9136" y="2697480"/>
            <a:ext cx="2697480" cy="292608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296" y="2423160"/>
            <a:ext cx="2423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3DA"/>
                </a:solidFill>
                <a:latin typeface="Segoe UI"/>
              </a:rPr>
              <a:t>Public good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4" y="3154680"/>
            <a:ext cx="229514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3A2410"/>
                </a:solidFill>
                <a:latin typeface="Segoe UI"/>
              </a:rPr>
              <a:t>Free for institutions to deploy, sovereign and self-hostable - no recurring vendor fees.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One platform, five parts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5544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FDF3DD"/>
          </a:solidFill>
          <a:ln w="15875">
            <a:solidFill>
              <a:srgbClr val="C9952A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18288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EF7D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28800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3DA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847088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3A2410"/>
                </a:solidFill>
                <a:latin typeface="Segoe UI"/>
              </a:rPr>
              <a:t>Speech-to-Text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7A5A38"/>
                </a:solidFill>
                <a:latin typeface="Segoe UI"/>
              </a:rPr>
              <a:t>Voice input, dictation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8848" y="15544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FDF3DD"/>
          </a:solidFill>
          <a:ln w="15875">
            <a:solidFill>
              <a:srgbClr val="C9952A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81728" y="18288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1828800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3DA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1847088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3A2410"/>
                </a:solidFill>
                <a:latin typeface="Segoe UI"/>
              </a:rPr>
              <a:t>Text-to-Speech + Screen Reader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7A5A38"/>
                </a:solidFill>
                <a:latin typeface="Segoe UI"/>
              </a:rPr>
              <a:t>Neural Odia/Hindi/English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57616" y="15544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FDF3DD"/>
          </a:solidFill>
          <a:ln w="15875">
            <a:solidFill>
              <a:srgbClr val="C9952A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40496" y="18288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0496" y="1828800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3D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2056" y="1847088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3A2410"/>
                </a:solidFill>
                <a:latin typeface="Segoe UI"/>
              </a:rPr>
              <a:t>Accessibility API Gateway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7A5A38"/>
                </a:solidFill>
                <a:latin typeface="Segoe UI"/>
              </a:rPr>
              <a:t>The plug-and-play surface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4612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FDF3DD"/>
          </a:solidFill>
          <a:ln w="15875">
            <a:solidFill>
              <a:srgbClr val="C9952A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59" y="3520439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520439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3DA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538727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3A2410"/>
                </a:solidFill>
                <a:latin typeface="Segoe UI"/>
              </a:rPr>
              <a:t>Translation - IndicTrans2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7A5A38"/>
                </a:solidFill>
                <a:latin typeface="Segoe UI"/>
              </a:rPr>
              <a:t>Indic-tuned, Odia-first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324612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FDF3DD"/>
          </a:solidFill>
          <a:ln w="15875">
            <a:solidFill>
              <a:srgbClr val="C9952A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81728" y="3520439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3520439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3DA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3288" y="3538727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50" b="1" i="0">
                <a:solidFill>
                  <a:srgbClr val="3A2410"/>
                </a:solidFill>
                <a:latin typeface="Segoe UI"/>
              </a:rPr>
              <a:t>Admin Dashboard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7A5A38"/>
                </a:solidFill>
                <a:latin typeface="Segoe UI"/>
              </a:rPr>
              <a:t>Tenants, keys, usage, WCAG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Built to run anywhere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371600"/>
            <a:ext cx="676656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50" b="1">
                <a:solidFill>
                  <a:srgbClr val="3A2410"/>
                </a:solidFill>
                <a:latin typeface="Segoe UI"/>
              </a:rPr>
              <a:t>Browser extension (MV3):  </a:t>
            </a:r>
            <a:r>
              <a:rPr sz="1650">
                <a:solidFill>
                  <a:srgbClr val="3A2410"/>
                </a:solidFill>
                <a:latin typeface="Segoe UI"/>
              </a:rPr>
              <a:t>MAIN + isolated worlds, a Shadow-DOM widget that can't clash with any page.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50" b="1">
                <a:solidFill>
                  <a:srgbClr val="3A2410"/>
                </a:solidFill>
                <a:latin typeface="Segoe UI"/>
              </a:rPr>
              <a:t>FastAPI gateway:  </a:t>
            </a:r>
            <a:r>
              <a:rPr sz="1650">
                <a:solidFill>
                  <a:srgbClr val="3A2410"/>
                </a:solidFill>
                <a:latin typeface="Segoe UI"/>
              </a:rPr>
              <a:t>multi-tenant, X-API-Key auth, CORS, usage metering, WCAG logging.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50" b="1">
                <a:solidFill>
                  <a:srgbClr val="3A2410"/>
                </a:solidFill>
                <a:latin typeface="Segoe UI"/>
              </a:rPr>
              <a:t>Open AI models:  </a:t>
            </a:r>
            <a:r>
              <a:rPr sz="1650">
                <a:solidFill>
                  <a:srgbClr val="3A2410"/>
                </a:solidFill>
                <a:latin typeface="Segoe UI"/>
              </a:rPr>
              <a:t>Meta MMS-TTS (or/hi/en), OpenAI Whisper, AI4Bharat IndicTrans2.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50" b="1">
                <a:solidFill>
                  <a:srgbClr val="3A2410"/>
                </a:solidFill>
                <a:latin typeface="Segoe UI"/>
              </a:rPr>
              <a:t>On-device runtime:  </a:t>
            </a:r>
            <a:r>
              <a:rPr sz="1650">
                <a:solidFill>
                  <a:srgbClr val="3A2410"/>
                </a:solidFill>
                <a:latin typeface="Segoe UI"/>
              </a:rPr>
              <a:t>transformers.js + ONNX / WebAssembly - inference in the browser.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650" b="1">
                <a:solidFill>
                  <a:srgbClr val="3A2410"/>
                </a:solidFill>
                <a:latin typeface="Segoe UI"/>
              </a:rPr>
              <a:t>Open-source platform:  </a:t>
            </a:r>
            <a:r>
              <a:rPr sz="1650">
                <a:solidFill>
                  <a:srgbClr val="3A2410"/>
                </a:solidFill>
                <a:latin typeface="Segoe UI"/>
              </a:rPr>
              <a:t>permissive license, self-hostable; runs offline from a USB / folder.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463040"/>
            <a:ext cx="3886200" cy="4480560"/>
          </a:xfrm>
          <a:prstGeom prst="roundRect">
            <a:avLst>
              <a:gd name="adj" fmla="val 6000"/>
            </a:avLst>
          </a:prstGeom>
          <a:solidFill>
            <a:srgbClr val="8D1B2F"/>
          </a:solidFill>
          <a:ln>
            <a:noFill/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6916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6B93F"/>
                </a:solidFill>
                <a:latin typeface="Segoe U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331720"/>
            <a:ext cx="33832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E6B93F"/>
                </a:solidFill>
                <a:latin typeface="Segoe UI"/>
              </a:rPr>
              <a:t>▸  </a:t>
            </a:r>
            <a:r>
              <a:rPr sz="1400">
                <a:solidFill>
                  <a:srgbClr val="FFF7E9"/>
                </a:solidFill>
                <a:latin typeface="Segoe UI"/>
              </a:rPr>
              <a:t>Privacy: voice &amp; text stay on the device.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E6B93F"/>
                </a:solidFill>
                <a:latin typeface="Segoe UI"/>
              </a:rPr>
              <a:t>▸  </a:t>
            </a:r>
            <a:r>
              <a:rPr sz="1400">
                <a:solidFill>
                  <a:srgbClr val="FFF7E9"/>
                </a:solidFill>
                <a:latin typeface="Segoe UI"/>
              </a:rPr>
              <a:t>Offline: no connectivity required.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E6B93F"/>
                </a:solidFill>
                <a:latin typeface="Segoe UI"/>
              </a:rPr>
              <a:t>▸  </a:t>
            </a:r>
            <a:r>
              <a:rPr sz="1400">
                <a:solidFill>
                  <a:srgbClr val="FFF7E9"/>
                </a:solidFill>
                <a:latin typeface="Segoe UI"/>
              </a:rPr>
              <a:t>Resilient: works on strict-CSP sites.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E6B93F"/>
                </a:solidFill>
                <a:latin typeface="Segoe UI"/>
              </a:rPr>
              <a:t>▸  </a:t>
            </a:r>
            <a:r>
              <a:rPr sz="1400">
                <a:solidFill>
                  <a:srgbClr val="FFF7E9"/>
                </a:solidFill>
                <a:latin typeface="Segoe UI"/>
              </a:rPr>
              <a:t>Auditable: open code for security review.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E6B93F"/>
                </a:solidFill>
                <a:latin typeface="Segoe UI"/>
              </a:rPr>
              <a:t>▸  </a:t>
            </a:r>
            <a:r>
              <a:rPr sz="1400">
                <a:solidFill>
                  <a:srgbClr val="FFF7E9"/>
                </a:solidFill>
                <a:latin typeface="Segoe UI"/>
              </a:rPr>
              <a:t>Low cost: no per-call cloud AI bills.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Isn't this just another accessibility overlay?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389120"/>
              </a:tblGrid>
              <a:tr h="71628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3DA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9728" marR="91440" marT="27432" marB="27432" anchor="ctr">
                    <a:solidFill>
                      <a:srgbClr val="8D1B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3DA"/>
                          </a:solidFill>
                          <a:latin typeface="Segoe UI"/>
                        </a:rPr>
                        <a:t>Overlays (accessiBe / UserWay)</a:t>
                      </a:r>
                    </a:p>
                  </a:txBody>
                  <a:tcPr marL="109728" marR="91440" marT="27432" marB="27432" anchor="ctr">
                    <a:solidFill>
                      <a:srgbClr val="8D1B2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3DA"/>
                          </a:solidFill>
                          <a:latin typeface="Segoe UI"/>
                        </a:rPr>
                        <a:t>AaaS</a:t>
                      </a:r>
                    </a:p>
                  </a:txBody>
                  <a:tcPr marL="109728" marR="91440" marT="27432" marB="27432" anchor="ctr">
                    <a:solidFill>
                      <a:srgbClr val="1A7A3C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8D1B2F"/>
                          </a:solidFill>
                          <a:latin typeface="Segoe UI"/>
                        </a:rPr>
                        <a:t>Who controls it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3A2410"/>
                          </a:solidFill>
                          <a:latin typeface="Segoe UI"/>
                        </a:rPr>
                        <a:t>Site owner installs &amp; pays; one site only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F5A2C"/>
                          </a:solidFill>
                          <a:latin typeface="Segoe UI"/>
                        </a:rPr>
                        <a:t>User installs the extension -&gt; works on ANY site</a:t>
                      </a:r>
                    </a:p>
                  </a:txBody>
                  <a:tcPr marL="109728" marR="91440" marT="27432" marB="27432" anchor="ctr">
                    <a:solidFill>
                      <a:srgbClr val="E4F4E9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8D1B2F"/>
                          </a:solidFill>
                          <a:latin typeface="Segoe UI"/>
                        </a:rPr>
                        <a:t>Language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3A2410"/>
                          </a:solidFill>
                          <a:latin typeface="Segoe UI"/>
                        </a:rPr>
                        <a:t>English / Western-centric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F5A2C"/>
                          </a:solidFill>
                          <a:latin typeface="Segoe UI"/>
                        </a:rPr>
                        <a:t>Odia &amp; Hindi first; sign language on the way</a:t>
                      </a:r>
                    </a:p>
                  </a:txBody>
                  <a:tcPr marL="109728" marR="91440" marT="27432" marB="27432" anchor="ctr">
                    <a:solidFill>
                      <a:srgbClr val="E4F4E9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8D1B2F"/>
                          </a:solidFill>
                          <a:latin typeface="Segoe UI"/>
                        </a:rPr>
                        <a:t>Data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3A2410"/>
                          </a:solidFill>
                          <a:latin typeface="Segoe UI"/>
                        </a:rPr>
                        <a:t>Cloud SaaS; content sent to their servers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F5A2C"/>
                          </a:solidFill>
                          <a:latin typeface="Segoe UI"/>
                        </a:rPr>
                        <a:t>On-device &amp; in-country; DPDP-friendly</a:t>
                      </a:r>
                    </a:p>
                  </a:txBody>
                  <a:tcPr marL="109728" marR="91440" marT="27432" marB="27432" anchor="ctr">
                    <a:solidFill>
                      <a:srgbClr val="E4F4E9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8D1B2F"/>
                          </a:solidFill>
                          <a:latin typeface="Segoe UI"/>
                        </a:rPr>
                        <a:t>Openness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3A2410"/>
                          </a:solidFill>
                          <a:latin typeface="Segoe UI"/>
                        </a:rPr>
                        <a:t>Proprietary black box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F5A2C"/>
                          </a:solidFill>
                          <a:latin typeface="Segoe UI"/>
                        </a:rPr>
                        <a:t>Open-source, auditable, self-hostable</a:t>
                      </a:r>
                    </a:p>
                  </a:txBody>
                  <a:tcPr marL="109728" marR="91440" marT="27432" marB="27432" anchor="ctr">
                    <a:solidFill>
                      <a:srgbClr val="E4F4E9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8D1B2F"/>
                          </a:solidFill>
                          <a:latin typeface="Segoe UI"/>
                        </a:rPr>
                        <a:t>Claim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3A2410"/>
                          </a:solidFill>
                          <a:latin typeface="Segoe UI"/>
                        </a:rPr>
                        <a:t>"Auto-makes you compliant" (criticised)</a:t>
                      </a:r>
                    </a:p>
                  </a:txBody>
                  <a:tcPr marL="109728" marR="91440" marT="27432" marB="27432" anchor="ctr">
                    <a:solidFill>
                      <a:srgbClr val="FDF3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F5A2C"/>
                          </a:solidFill>
                          <a:latin typeface="Segoe UI"/>
                        </a:rPr>
                        <a:t>Honest: assistive layer + API toolkit</a:t>
                      </a:r>
                    </a:p>
                  </a:txBody>
                  <a:tcPr marL="109728" marR="91440" marT="27432" marB="27432" anchor="ctr">
                    <a:solidFill>
                      <a:srgbClr val="E4F4E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1">
                <a:solidFill>
                  <a:srgbClr val="8D1B2F"/>
                </a:solidFill>
                <a:latin typeface="Segoe UI"/>
              </a:rPr>
              <a:t>Not a compliance shortcut - open accessibility infrastructure with first-class Indian-language access.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Why government should adopt AaaS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325880"/>
            <a:ext cx="1097280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7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750" b="1">
                <a:solidFill>
                  <a:srgbClr val="3A2410"/>
                </a:solidFill>
                <a:latin typeface="Segoe UI"/>
              </a:rPr>
              <a:t>Compliance, built in:  </a:t>
            </a:r>
            <a:r>
              <a:rPr sz="1750">
                <a:solidFill>
                  <a:srgbClr val="3A2410"/>
                </a:solidFill>
                <a:latin typeface="Segoe UI"/>
              </a:rPr>
              <a:t>helps meet the RPwD Act 2016, GIGW 3.0 and WCAG 2.1 - with WCAG logging for evidence.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7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750" b="1">
                <a:solidFill>
                  <a:srgbClr val="3A2410"/>
                </a:solidFill>
                <a:latin typeface="Segoe UI"/>
              </a:rPr>
              <a:t>Real inclusion:  </a:t>
            </a:r>
            <a:r>
              <a:rPr sz="1750">
                <a:solidFill>
                  <a:srgbClr val="3A2410"/>
                </a:solidFill>
                <a:latin typeface="Segoe UI"/>
              </a:rPr>
              <a:t>first-class Odia &amp; Hindi, and Indian Sign Language - reaching citizens English-only tools miss.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7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750" b="1">
                <a:solidFill>
                  <a:srgbClr val="3A2410"/>
                </a:solidFill>
                <a:latin typeface="Segoe UI"/>
              </a:rPr>
              <a:t>Data sovereignty:  </a:t>
            </a:r>
            <a:r>
              <a:rPr sz="1750">
                <a:solidFill>
                  <a:srgbClr val="3A2410"/>
                </a:solidFill>
                <a:latin typeface="Segoe UI"/>
              </a:rPr>
              <a:t>on-device &amp; in-country processing - DPDP Act 2023 friendly; no citizen data to foreign clouds.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7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750" b="1">
                <a:solidFill>
                  <a:srgbClr val="3A2410"/>
                </a:solidFill>
                <a:latin typeface="Segoe UI"/>
              </a:rPr>
              <a:t>Open-source &amp; no lock-in:  </a:t>
            </a:r>
            <a:r>
              <a:rPr sz="1750">
                <a:solidFill>
                  <a:srgbClr val="3A2410"/>
                </a:solidFill>
                <a:latin typeface="Segoe UI"/>
              </a:rPr>
              <a:t>auditable, self-hostable, sovereign - the state owns its accessibility stack, no vendor fees.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7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750" b="1">
                <a:solidFill>
                  <a:srgbClr val="3A2410"/>
                </a:solidFill>
                <a:latin typeface="Segoe UI"/>
              </a:rPr>
              <a:t>Cost-efficient &amp; instant:  </a:t>
            </a:r>
            <a:r>
              <a:rPr sz="1750">
                <a:solidFill>
                  <a:srgbClr val="3A2410"/>
                </a:solidFill>
                <a:latin typeface="Segoe UI"/>
              </a:rPr>
              <a:t>one shared platform vs every dept reinventing it - and it works on existing legacy portals.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Impact &amp; alignment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417320"/>
            <a:ext cx="5394960" cy="4480560"/>
          </a:xfrm>
          <a:prstGeom prst="roundRect">
            <a:avLst>
              <a:gd name="adj" fmla="val 5000"/>
            </a:avLst>
          </a:prstGeom>
          <a:solidFill>
            <a:srgbClr val="FDF3DD"/>
          </a:solidFill>
          <a:ln w="15875">
            <a:solidFill>
              <a:srgbClr val="C9952A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D1B2F"/>
                </a:solidFill>
                <a:latin typeface="Segoe UI"/>
              </a:rPr>
              <a:t>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550">
                <a:solidFill>
                  <a:srgbClr val="3A2410"/>
                </a:solidFill>
                <a:latin typeface="Segoe UI"/>
              </a:rPr>
              <a:t>Any citizen can hear &amp; read any public page in Odia.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550">
                <a:solidFill>
                  <a:srgbClr val="3A2410"/>
                </a:solidFill>
                <a:latin typeface="Segoe UI"/>
              </a:rPr>
              <a:t>Sign-language access for the deaf community.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550">
                <a:solidFill>
                  <a:srgbClr val="3A2410"/>
                </a:solidFill>
                <a:latin typeface="Segoe UI"/>
              </a:rPr>
              <a:t>Forms get filled by voice - no typing, no scribe needed.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550">
                <a:solidFill>
                  <a:srgbClr val="3A2410"/>
                </a:solidFill>
                <a:latin typeface="Segoe UI"/>
              </a:rPr>
              <a:t>Measurable WCAG compliance - no site rebuild.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394960" cy="4480560"/>
          </a:xfrm>
          <a:prstGeom prst="roundRect">
            <a:avLst>
              <a:gd name="adj" fmla="val 5000"/>
            </a:avLst>
          </a:prstGeom>
          <a:solidFill>
            <a:srgbClr val="8D1B2F"/>
          </a:solidFill>
          <a:ln>
            <a:noFill/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6B93F"/>
                </a:solidFill>
                <a:latin typeface="Segoe UI"/>
              </a:rPr>
              <a:t>Aligns with national missions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6B93F"/>
                </a:solidFill>
                <a:latin typeface="Segoe UI"/>
              </a:rPr>
              <a:t>▸  </a:t>
            </a:r>
            <a:r>
              <a:rPr sz="1550">
                <a:solidFill>
                  <a:srgbClr val="FFF7E9"/>
                </a:solidFill>
                <a:latin typeface="Segoe UI"/>
              </a:rPr>
              <a:t>Digital India - inclusive e-governance.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6B93F"/>
                </a:solidFill>
                <a:latin typeface="Segoe UI"/>
              </a:rPr>
              <a:t>▸  </a:t>
            </a:r>
            <a:r>
              <a:rPr sz="1550">
                <a:solidFill>
                  <a:srgbClr val="FFF7E9"/>
                </a:solidFill>
                <a:latin typeface="Segoe UI"/>
              </a:rPr>
              <a:t>Sugamya Bharat (Accessible India Campaign).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6B93F"/>
                </a:solidFill>
                <a:latin typeface="Segoe UI"/>
              </a:rPr>
              <a:t>▸  </a:t>
            </a:r>
            <a:r>
              <a:rPr sz="1550">
                <a:solidFill>
                  <a:srgbClr val="FFF7E9"/>
                </a:solidFill>
                <a:latin typeface="Segoe UI"/>
              </a:rPr>
              <a:t>Digital Public Infrastructure - open rails.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50" b="1">
                <a:solidFill>
                  <a:srgbClr val="E6B93F"/>
                </a:solidFill>
                <a:latin typeface="Segoe UI"/>
              </a:rPr>
              <a:t>▸  </a:t>
            </a:r>
            <a:r>
              <a:rPr sz="1550">
                <a:solidFill>
                  <a:srgbClr val="FFF7E9"/>
                </a:solidFill>
                <a:latin typeface="Segoe UI"/>
              </a:rPr>
              <a:t>SDG 10 &amp; SDG 4 - equity and education.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Way forward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508760"/>
            <a:ext cx="3611880" cy="4114800"/>
          </a:xfrm>
          <a:prstGeom prst="roundRect">
            <a:avLst>
              <a:gd name="adj" fmla="val 5000"/>
            </a:avLst>
          </a:prstGeom>
          <a:solidFill>
            <a:srgbClr val="E4F4E9"/>
          </a:solidFill>
          <a:ln w="25400">
            <a:solidFill>
              <a:srgbClr val="1A7A3C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3611880" cy="713232"/>
          </a:xfrm>
          <a:prstGeom prst="roundRect">
            <a:avLst>
              <a:gd name="adj" fmla="val 14000"/>
            </a:avLst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3611880" cy="347472"/>
          </a:xfrm>
          <a:prstGeom prst="rect">
            <a:avLst/>
          </a:prstGeom>
          <a:solidFill>
            <a:srgbClr val="1A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508760"/>
            <a:ext cx="3246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50" b="1" i="0">
                <a:solidFill>
                  <a:srgbClr val="FFF3DA"/>
                </a:solidFill>
                <a:latin typeface="Segoe UI"/>
              </a:rPr>
              <a:t>NOW - MVP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A7A3C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Extension + gateway live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A7A3C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Odia / Hindi / English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A7A3C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On-device TTS &amp; STT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A7A3C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Open-source + offline bundle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70248" y="3566160"/>
            <a:ext cx="210312" cy="0"/>
          </a:xfrm>
          <a:prstGeom prst="bentConnector3">
            <a:avLst/>
          </a:prstGeom>
          <a:ln w="3175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98848" y="1508760"/>
            <a:ext cx="3611880" cy="4114800"/>
          </a:xfrm>
          <a:prstGeom prst="roundRect">
            <a:avLst>
              <a:gd name="adj" fmla="val 5000"/>
            </a:avLst>
          </a:prstGeom>
          <a:solidFill>
            <a:srgbClr val="FDECD4"/>
          </a:solidFill>
          <a:ln w="25400">
            <a:solidFill>
              <a:srgbClr val="EF7D1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98848" y="1508760"/>
            <a:ext cx="3611880" cy="713232"/>
          </a:xfrm>
          <a:prstGeom prst="roundRect">
            <a:avLst>
              <a:gd name="adj" fmla="val 14000"/>
            </a:avLst>
          </a:prstGeom>
          <a:solidFill>
            <a:srgbClr val="EF7D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8848" y="1874519"/>
            <a:ext cx="3611880" cy="347472"/>
          </a:xfrm>
          <a:prstGeom prst="rect">
            <a:avLst/>
          </a:prstGeom>
          <a:solidFill>
            <a:srgbClr val="EF7D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1508760"/>
            <a:ext cx="3246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50" b="1" i="0">
                <a:solidFill>
                  <a:srgbClr val="FFF3DA"/>
                </a:solidFill>
                <a:latin typeface="Segoe UI"/>
              </a:rPr>
              <a:t>NEXT - 3-6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46888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Indian Sign Language avatar *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More Indian languages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Pilot with a govt department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EF7D1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Android / mobile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9016" y="3566160"/>
            <a:ext cx="210312" cy="0"/>
          </a:xfrm>
          <a:prstGeom prst="bentConnector3">
            <a:avLst/>
          </a:prstGeom>
          <a:ln w="31750">
            <a:solidFill>
              <a:srgbClr val="C995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57616" y="1508760"/>
            <a:ext cx="3611880" cy="4114800"/>
          </a:xfrm>
          <a:prstGeom prst="roundRect">
            <a:avLst>
              <a:gd name="adj" fmla="val 5000"/>
            </a:avLst>
          </a:prstGeom>
          <a:solidFill>
            <a:srgbClr val="E9ECFB"/>
          </a:solidFill>
          <a:ln w="25400">
            <a:solidFill>
              <a:srgbClr val="1B2A66"/>
            </a:solidFill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57616" y="1508760"/>
            <a:ext cx="3611880" cy="713232"/>
          </a:xfrm>
          <a:prstGeom prst="roundRect">
            <a:avLst>
              <a:gd name="adj" fmla="val 14000"/>
            </a:avLst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57616" y="1874519"/>
            <a:ext cx="3611880" cy="347472"/>
          </a:xfrm>
          <a:prstGeom prst="rect">
            <a:avLst/>
          </a:prstGeom>
          <a:solidFill>
            <a:srgbClr val="1B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1508760"/>
            <a:ext cx="3246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50" b="1" i="0">
                <a:solidFill>
                  <a:srgbClr val="FFF3DA"/>
                </a:solidFill>
                <a:latin typeface="Segoe UI"/>
              </a:rPr>
              <a:t>LATER - 6-12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1936" y="246888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B2A6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State-wide DPI rollout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B2A6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WCAG compliance dashboard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B2A6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Community language &amp; sign packs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>
                <a:solidFill>
                  <a:srgbClr val="1B2A66"/>
                </a:solidFill>
                <a:latin typeface="Segoe UI"/>
              </a:rPr>
              <a:t>▸  </a:t>
            </a:r>
            <a:r>
              <a:rPr sz="1450">
                <a:solidFill>
                  <a:srgbClr val="3A2410"/>
                </a:solidFill>
                <a:latin typeface="Segoe UI"/>
              </a:rPr>
              <a:t>Certification programme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1">
                <a:solidFill>
                  <a:srgbClr val="8D1B2F"/>
                </a:solidFill>
                <a:latin typeface="Segoe UI"/>
              </a:rPr>
              <a:t>*  Indian Sign Language avatar - our flagship next milestone.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8755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FFF3DA"/>
                </a:solidFill>
                <a:latin typeface="Segoe UI"/>
              </a:rPr>
              <a:t>The Ask</a:t>
            </a:r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118872"/>
            <a:ext cx="676656" cy="676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1463040"/>
            <a:ext cx="10972800" cy="1371600"/>
          </a:xfrm>
          <a:prstGeom prst="roundRect">
            <a:avLst>
              <a:gd name="adj" fmla="val 8000"/>
            </a:avLst>
          </a:prstGeom>
          <a:solidFill>
            <a:srgbClr val="8D1B2F"/>
          </a:solidFill>
          <a:ln>
            <a:noFill/>
          </a:ln>
          <a:effectLst/>
          <a:effectLst>
            <a:outerShdw blurRad="90000" dist="40000" dir="5400000" rotWithShape="0">
              <a:srgbClr val="6E1322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106070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FFF3DA"/>
                </a:solidFill>
                <a:latin typeface="Segoe UI"/>
              </a:rPr>
              <a:t>Give us one department's website - we'll make it usable by every citizen.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424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9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900" b="1">
                <a:solidFill>
                  <a:srgbClr val="3A2410"/>
                </a:solidFill>
                <a:latin typeface="Segoe UI"/>
              </a:rPr>
              <a:t>A pilot:  </a:t>
            </a:r>
            <a:r>
              <a:rPr sz="1900">
                <a:solidFill>
                  <a:srgbClr val="3A2410"/>
                </a:solidFill>
                <a:latin typeface="Segoe UI"/>
              </a:rPr>
              <a:t>one Odisha government department or university portal to deploy on.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9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900" b="1">
                <a:solidFill>
                  <a:srgbClr val="3A2410"/>
                </a:solidFill>
                <a:latin typeface="Segoe UI"/>
              </a:rPr>
              <a:t>Access &amp; mentorship:  </a:t>
            </a:r>
            <a:r>
              <a:rPr sz="1900">
                <a:solidFill>
                  <a:srgbClr val="3A2410"/>
                </a:solidFill>
                <a:latin typeface="Segoe UI"/>
              </a:rPr>
              <a:t>real portals to test against, and guidance to harden for production.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900" b="1">
                <a:solidFill>
                  <a:srgbClr val="EF7D16"/>
                </a:solidFill>
                <a:latin typeface="Segoe UI"/>
              </a:rPr>
              <a:t>▸  </a:t>
            </a:r>
            <a:r>
              <a:rPr sz="1900" b="1">
                <a:solidFill>
                  <a:srgbClr val="3A2410"/>
                </a:solidFill>
                <a:latin typeface="Segoe UI"/>
              </a:rPr>
              <a:t>Support to scale:  </a:t>
            </a:r>
            <a:r>
              <a:rPr sz="1900">
                <a:solidFill>
                  <a:srgbClr val="3A2410"/>
                </a:solidFill>
                <a:latin typeface="Segoe UI"/>
              </a:rPr>
              <a:t>to build the sign-language avatar and a state-wide, open DPI rollout.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55664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Team SUBARNAREKHA  ·  Smart Odisha Hackathon '25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55664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7A5A38"/>
                </a:solidFill>
                <a:latin typeface="Segoe U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6B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kra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777240"/>
            <a:ext cx="2103120" cy="2103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306324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3DA"/>
                </a:solidFill>
                <a:latin typeface="Segoe UI"/>
              </a:rPr>
              <a:t>Thank you</a:t>
            </a:r>
          </a:p>
        </p:txBody>
      </p:sp>
      <p:pic>
        <p:nvPicPr>
          <p:cNvPr id="8" name="Picture 7" descr="odia_s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647" y="3977639"/>
            <a:ext cx="45720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000" b="1" i="0">
                <a:solidFill>
                  <a:srgbClr val="E6B93F"/>
                </a:solidFill>
                <a:latin typeface="Segoe UI"/>
              </a:rPr>
              <a:t>Accessibility as a Service  ·  Team SUBARNAREKHA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FF7E9"/>
                </a:solidFill>
                <a:latin typeface="Segoe UI"/>
              </a:rPr>
              <a:t>Open-source · for the public good · accessibility for every citizen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